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2A5FE03-25E0-DA59-E9F1-A48687DA9CC1}">
          <p14:sldIdLst>
            <p14:sldId id="256"/>
            <p14:sldId id="257"/>
            <p14:sldId id="258"/>
            <p14:sldId id="259"/>
          </p14:sldIdLst>
        </p14:section>
        <p14:section name="Design" id="{76B93F1E-371D-FCC5-1B3D-AB61AA22E98E}">
          <p14:sldIdLst>
            <p14:sldId id="260"/>
            <p14:sldId id="261"/>
          </p14:sldIdLst>
        </p14:section>
        <p14:section name="Implementation" id="{E0FB1788-F154-2BA9-2810-028F074395C7}">
          <p14:sldIdLst>
            <p14:sldId id="262"/>
            <p14:sldId id="263"/>
            <p14:sldId id="264"/>
            <p14:sldId id="265"/>
          </p14:sldIdLst>
        </p14:section>
        <p14:section name="Results" id="{95419F1A-52F1-F429-69F8-EE3AD4E63521}">
          <p14:sldIdLst>
            <p14:sldId id="266"/>
            <p14:sldId id="267"/>
          </p14:sldIdLst>
        </p14:section>
        <p14:section name="Wrap-up" id="{86626E59-A379-7500-A6CF-702A718C7A8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1CEBAB-BD35-441E-9F04-FF7643913B8E}" v="5" dt="2026-10-17T05:07:59.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 Valli" userId="a9101857b4e72736" providerId="LiveId" clId="{83B82092-5CB6-4F12-84E5-D1A90E76F268}"/>
    <pc:docChg chg="modSld">
      <pc:chgData name="Sri Valli" userId="a9101857b4e72736" providerId="LiveId" clId="{83B82092-5CB6-4F12-84E5-D1A90E76F268}" dt="2026-10-17T05:08:34.490" v="305" actId="20577"/>
      <pc:docMkLst>
        <pc:docMk/>
      </pc:docMkLst>
      <pc:sldChg chg="modSp mod">
        <pc:chgData name="Sri Valli" userId="a9101857b4e72736" providerId="LiveId" clId="{83B82092-5CB6-4F12-84E5-D1A90E76F268}" dt="2026-10-17T05:08:34.490" v="305" actId="20577"/>
        <pc:sldMkLst>
          <pc:docMk/>
          <pc:sldMk cId="0" sldId="256"/>
        </pc:sldMkLst>
        <pc:spChg chg="mod">
          <ac:chgData name="Sri Valli" userId="a9101857b4e72736" providerId="LiveId" clId="{83B82092-5CB6-4F12-84E5-D1A90E76F268}" dt="2026-10-17T05:08:34.490" v="305" actId="20577"/>
          <ac:spMkLst>
            <pc:docMk/>
            <pc:sldMk cId="0" sldId="256"/>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FFFFF"/>
                </a:solidFill>
                <a:latin typeface="+mn-lt"/>
              </a:defRPr>
            </a:pPr>
            <a:r>
              <a:rPr sz="1400" b="0" i="0" u="none" strike="noStrike">
                <a:solidFill>
                  <a:srgbClr val="FFFFFF"/>
                </a:solidFill>
                <a:latin typeface="+mn-lt"/>
              </a:rPr>
              <a:t>Average execution time per benchmark</a:t>
            </a:r>
          </a:p>
        </c:rich>
      </c:tx>
      <c:overlay val="0"/>
    </c:title>
    <c:autoTitleDeleted val="0"/>
    <c:plotArea>
      <c:layout/>
      <c:barChart>
        <c:barDir val="col"/>
        <c:grouping val="clustered"/>
        <c:varyColors val="0"/>
        <c:ser>
          <c:idx val="0"/>
          <c:order val="0"/>
          <c:tx>
            <c:strRef>
              <c:f>Sheet1!$B$1</c:f>
              <c:strCache>
                <c:ptCount val="1"/>
                <c:pt idx="0">
                  <c:v>Average execution time (s)</c:v>
                </c:pt>
              </c:strCache>
            </c:strRef>
          </c:tx>
          <c:spPr>
            <a:solidFill>
              <a:srgbClr val="2F81F7"/>
            </a:solidFill>
            <a:effectLst/>
          </c:spPr>
          <c:invertIfNegative val="0"/>
          <c:dLbls>
            <c:numFmt formatCode="0.000000" sourceLinked="0"/>
            <c:spPr>
              <a:noFill/>
              <a:ln>
                <a:noFill/>
              </a:ln>
              <a:effectLst/>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CPU</c:v>
                </c:pt>
                <c:pt idx="1">
                  <c:v>Memory</c:v>
                </c:pt>
                <c:pt idx="2">
                  <c:v>File I/O</c:v>
                </c:pt>
              </c:strCache>
            </c:strRef>
          </c:cat>
          <c:val>
            <c:numRef>
              <c:f>Sheet1!$B$2:$B$4</c:f>
              <c:numCache>
                <c:formatCode>General</c:formatCode>
                <c:ptCount val="3"/>
                <c:pt idx="0">
                  <c:v>1.7715000000000002E-2</c:v>
                </c:pt>
                <c:pt idx="1">
                  <c:v>2.7000000000000001E-3</c:v>
                </c:pt>
                <c:pt idx="2">
                  <c:v>7.9340000000000001E-3</c:v>
                </c:pt>
              </c:numCache>
            </c:numRef>
          </c:val>
          <c:extLst>
            <c:ext xmlns:c16="http://schemas.microsoft.com/office/drawing/2014/chart" uri="{C3380CC4-5D6E-409C-BE32-E72D297353CC}">
              <c16:uniqueId val="{00000000-DAD3-49C6-9BB3-56FE50089D4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title>
          <c:tx>
            <c:rich>
              <a:bodyPr/>
              <a:lstStyle/>
              <a:p>
                <a:pPr>
                  <a:defRPr sz="1200" b="0" i="0" u="none" strike="noStrike">
                    <a:solidFill>
                      <a:srgbClr val="DCE6F5"/>
                    </a:solidFill>
                    <a:latin typeface="+mn-lt"/>
                  </a:defRPr>
                </a:pPr>
                <a:r>
                  <a:rPr sz="1200" b="0" i="0" u="none" strike="noStrike">
                    <a:solidFill>
                      <a:srgbClr val="DCE6F5"/>
                    </a:solidFill>
                    <a:latin typeface="+mn-lt"/>
                  </a:rPr>
                  <a:t>Benchmark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DCE6F5"/>
                </a:solidFill>
                <a:latin typeface="+mn-lt"/>
              </a:defRPr>
            </a:pPr>
            <a:endParaRPr lang="en-US"/>
          </a:p>
        </c:txPr>
        <c:crossAx val="2094734552"/>
        <c:crosses val="autoZero"/>
        <c:auto val="1"/>
        <c:lblAlgn val="ctr"/>
        <c:lblOffset val="100"/>
        <c:noMultiLvlLbl val="1"/>
      </c:catAx>
      <c:valAx>
        <c:axId val="2094734552"/>
        <c:scaling>
          <c:orientation val="minMax"/>
          <c:max val="0.02"/>
          <c:min val="0"/>
        </c:scaling>
        <c:delete val="0"/>
        <c:axPos val="l"/>
        <c:majorGridlines>
          <c:spPr>
            <a:ln w="9525" cap="flat">
              <a:solidFill>
                <a:srgbClr val="233556"/>
              </a:solidFill>
              <a:prstDash val="solid"/>
              <a:round/>
            </a:ln>
          </c:spPr>
        </c:majorGridlines>
        <c:title>
          <c:tx>
            <c:rich>
              <a:bodyPr/>
              <a:lstStyle/>
              <a:p>
                <a:pPr>
                  <a:defRPr sz="1200" b="0" i="0" u="none" strike="noStrike">
                    <a:solidFill>
                      <a:srgbClr val="DCE6F5"/>
                    </a:solidFill>
                    <a:latin typeface="+mn-lt"/>
                  </a:defRPr>
                </a:pPr>
                <a:r>
                  <a:rPr sz="1200" b="0" i="0" u="none" strike="noStrike">
                    <a:solidFill>
                      <a:srgbClr val="DCE6F5"/>
                    </a:solidFill>
                    <a:latin typeface="+mn-lt"/>
                  </a:rPr>
                  <a:t>Execution time (seconds)</a:t>
                </a:r>
              </a:p>
            </c:rich>
          </c:tx>
          <c:overlay val="0"/>
        </c:title>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DCE6F5"/>
                </a:solidFill>
                <a:latin typeface="+mn-lt"/>
              </a:defRPr>
            </a:pPr>
            <a:endParaRPr lang="en-US"/>
          </a:p>
        </c:txPr>
        <c:crossAx val="2094734554"/>
        <c:crosses val="autoZero"/>
        <c:crossBetween val="between"/>
        <c:majorUnit val="5.0000000000000001E-3"/>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032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Srivalli, roll number 2520090220. My project is the Linux Performance Benchmarking Tool, written in C for Operating Systems and Linux systems programming. It is a small menu-driven program that measures how long selected CPU, memory and file I/O workloads take to run on Linux. I will explain the idea, the design, the implementation, and the actual results I recorded.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Benchmarking simply means running a known piece of work and measuring how long it takes. Execution time is the easiest metric to understand: less time means that workload finished faster on that system. Measuring it helps us compare systems, notice slow operations, and see the effect of a change. In this project the idea is very simple: record the time before the workload, record the time after, and subtract.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Full-featured profiling tools can be complex when a student only wants to understand how long basic operations take. The problem this project addresses is the need for a simple, transparent tool that times a few selected operations, repeats them, and saves the results for later analysis. I chose three workloads: a CPU calculation, allocating and initializing 4,000,000 bytes of memory, and writing then reading a file of 50,000 lines.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goals of the project. First three: measure the execution time of a CPU calculation, of memory allocation and initialization, and of file input and output. Fourth: give the user a simple menu with individual and combined modes. Fifth: in combined mode, run three rounds, calculate average times and save detailed results to a CSV file. Sixth: manage the code with Git and publish it on GitHub.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written in C using the C11 standard and compiled with GCC 13.3.0. It runs on Ubuntu 24.04.4 LTS inside WSL2, the Windows Subsystem for Linux. Git and GitHub are used for version control. For requirements, the software side is simply a C compiler, Ubuntu on WSL2 and Git. For hardware, any computer that can run WSL2 is enough; I will mention my own machine specifications separately if asked.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top is the architecture. The user interacts with a menu in the terminal. The menu calls one of three benchmark modules: CPU, memory or file I/O. Each module is timed, and the results go to the console and to a CSV file. These are logical components of the single C program. Below is the workflow: select an option, run the benchmark, record start and end time, repeat for three rounds in combined mode, calculate the average, and save to benchmark_results.csv.</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benchmark runs a fixed calculation and measures how long it takes. A timestamp is taken before the calculation and another after, and the difference is the execution time. The final result of the calculation, 199999990000000, is printed so we can see the work was completed. The three recorded runs were 0.019185, 0.017272 and 0.016690 seconds, giving an average of 0.017715 seconds. The code on the slide is simplified pseudocode, not the exact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benchmark allocates a block of 4,000,000 bytes, initializes it, and measures the elapsed time. Then the memory is released. The timed part is allocation plus initialization. Please note that this does not measure total RAM usage of the system; it only times this specific operation. The recorded runs were 0.003805, 0.002748 and 0.001548 seconds, with an average of 0.002700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I/O benchmark writes a test file, then reads back 50,000 lines, and measures the total time for this input and output work. Because it uses the operating system and storage, its timing can vary more between runs, and caching can influence it. The recorded runs were 0.010319, 0.005726 and 0.007758 seconds, with an average of 0.007934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the project I compile benchmark.c with GCC using the C11 standard and warnings enabled, and then run the program. The menu has two kinds of options. Individual options run a single benchmark: CPU, memory or file I/O. The combined option runs all three benchmarks for three rounds, calculates the average times and writes detailed results to benchmark_results.csv.</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recorded results from three rounds. CPU took about 0.0177 seconds on average, file I/O about 0.0079 seconds, and memory about 0.0027 seconds. Run 1 was the slowest for all three benchmarks, which may reflect warm-up or caching effects. The three benchmarks do different amounts and kinds of work, so this chart compares trends in this test, not which subsystem is better. These measurements are specific to my test environment and workload, and may vary across systems and repeated executions.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testing, the program compiled successfully with GCC 13.3.0 and ran in Ubuntu 24.04.4 LTS through WSL2. I tested the individual benchmarks and the combined mode, which repeats the benchmarks for three rounds, and confirmed that benchmark_results.csv was generated. The source code, README, gitignore and the CSV results file are uploaded to GitHub, and the repository link is on the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limitations of the current implementation. The tool times selected workloads only; it does not measure total system performance, CPU utilization or overall memory usage, and its workload sizes are fixed in the program. Results also depend on the environment. On the right are future enhancements, which are not yet implemented: CPU utilization, memory usage monitoring, larger configurable workloads, graphical reports, and comparison across systems.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menu-driven C tool that measures the execution time of selected CPU, memory and file I/O workloads on Linux. The combined mode runs three rounds, calculates averages and saves detailed results to CSV. It was compiled with GCC 13.3.0, tested on Ubuntu 24.04.4 LTS under WSL2, and published on GitHub. The results are specific to my test environment and workload. Thank you,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A122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6400800" cy="173736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22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Linux Performance Benchmarking Tool</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https://github.com/Srivalli-29/linux-performance-benchmark-tool"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github.com/Srivalli-29/linux-performance-benchmark-too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640080" y="1234440"/>
            <a:ext cx="6400800" cy="1737360"/>
          </a:xfrm>
          <a:prstGeom prst="rect">
            <a:avLst/>
          </a:prstGeom>
          <a:noFill/>
          <a:ln/>
        </p:spPr>
        <p:txBody>
          <a:bodyPr wrap="square" lIns="0" tIns="0" rIns="0" bIns="0" rtlCol="0" anchor="t"/>
          <a:lstStyle/>
          <a:p>
            <a:pPr marL="0" indent="0" algn="l">
              <a:buNone/>
            </a:pPr>
            <a:r>
              <a:rPr lang="en-US" sz="4600" b="1" dirty="0">
                <a:solidFill>
                  <a:schemeClr val="bg1"/>
                </a:solidFill>
              </a:rPr>
              <a:t>Linux Performance Benchmarking Tool</a:t>
            </a:r>
            <a:endParaRPr lang="en-US" sz="4600" dirty="0"/>
          </a:p>
        </p:txBody>
      </p:sp>
      <p:sp>
        <p:nvSpPr>
          <p:cNvPr id="4" name="Text 1"/>
          <p:cNvSpPr txBox="1"/>
          <p:nvPr/>
        </p:nvSpPr>
        <p:spPr>
          <a:xfrm>
            <a:off x="640080" y="777240"/>
            <a:ext cx="6858000" cy="320040"/>
          </a:xfrm>
          <a:prstGeom prst="rect">
            <a:avLst/>
          </a:prstGeom>
          <a:noFill/>
          <a:ln/>
        </p:spPr>
        <p:txBody>
          <a:bodyPr wrap="square" lIns="0" tIns="0" rIns="0" bIns="0" rtlCol="0" anchor="t"/>
          <a:lstStyle/>
          <a:p>
            <a:pPr marL="0" indent="0" algn="l">
              <a:buNone/>
            </a:pPr>
            <a:r>
              <a:rPr lang="en-US" sz="1200" b="1" kern="0" spc="200" dirty="0">
                <a:solidFill>
                  <a:schemeClr val="accent2"/>
                </a:solidFill>
              </a:rPr>
              <a:t>OPERATING SYSTEMS  ·  LINUX SYSTEMS PROGRAMMING</a:t>
            </a:r>
            <a:endParaRPr lang="en-US" sz="1200" dirty="0"/>
          </a:p>
        </p:txBody>
      </p:sp>
      <p:sp>
        <p:nvSpPr>
          <p:cNvPr id="5" name="Text 2"/>
          <p:cNvSpPr txBox="1"/>
          <p:nvPr/>
        </p:nvSpPr>
        <p:spPr>
          <a:xfrm>
            <a:off x="640080" y="3017520"/>
            <a:ext cx="6035040" cy="822960"/>
          </a:xfrm>
          <a:prstGeom prst="rect">
            <a:avLst/>
          </a:prstGeom>
          <a:noFill/>
          <a:ln/>
        </p:spPr>
        <p:txBody>
          <a:bodyPr wrap="square" lIns="0" tIns="0" rIns="0" bIns="0" rtlCol="0" anchor="t"/>
          <a:lstStyle/>
          <a:p>
            <a:pPr marL="0" indent="0" algn="l">
              <a:buNone/>
            </a:pPr>
            <a:r>
              <a:rPr lang="en-US" sz="1800" dirty="0">
                <a:solidFill>
                  <a:schemeClr val="accent4"/>
                </a:solidFill>
              </a:rPr>
              <a:t>A menu-driven C program that times selected CPU, memory and file I/O workloads on Linux</a:t>
            </a:r>
            <a:endParaRPr lang="en-US" sz="1800" dirty="0"/>
          </a:p>
        </p:txBody>
      </p:sp>
      <p:sp>
        <p:nvSpPr>
          <p:cNvPr id="6" name="Text 3"/>
          <p:cNvSpPr txBox="1"/>
          <p:nvPr/>
        </p:nvSpPr>
        <p:spPr>
          <a:xfrm>
            <a:off x="457200" y="4160520"/>
            <a:ext cx="6217920" cy="1737360"/>
          </a:xfrm>
          <a:prstGeom prst="rect">
            <a:avLst/>
          </a:prstGeom>
          <a:noFill/>
          <a:ln/>
        </p:spPr>
        <p:txBody>
          <a:bodyPr wrap="square" lIns="0" tIns="0" rIns="0" bIns="0" rtlCol="0" anchor="t"/>
          <a:lstStyle/>
          <a:p>
            <a:pPr marL="0" indent="0" algn="l">
              <a:spcAft>
                <a:spcPts val="600"/>
              </a:spcAft>
              <a:buNone/>
            </a:pPr>
            <a:r>
              <a:rPr lang="en-US" sz="1400" dirty="0">
                <a:solidFill>
                  <a:schemeClr val="accent4"/>
                </a:solidFill>
              </a:rPr>
              <a:t>Roll Nos:                                            Names</a:t>
            </a:r>
          </a:p>
          <a:p>
            <a:pPr marL="0" indent="0" algn="l">
              <a:spcAft>
                <a:spcPts val="600"/>
              </a:spcAft>
              <a:buNone/>
            </a:pPr>
            <a:endParaRPr lang="en-US" sz="1400" dirty="0">
              <a:solidFill>
                <a:schemeClr val="accent4"/>
              </a:solidFill>
            </a:endParaRPr>
          </a:p>
          <a:p>
            <a:pPr>
              <a:spcAft>
                <a:spcPts val="600"/>
              </a:spcAft>
            </a:pPr>
            <a:r>
              <a:rPr lang="en-US" sz="1600" b="1" dirty="0">
                <a:solidFill>
                  <a:schemeClr val="bg1"/>
                </a:solidFill>
              </a:rPr>
              <a:t>2520090220                            Srivalli</a:t>
            </a:r>
            <a:endParaRPr lang="en-US" sz="1600" dirty="0"/>
          </a:p>
          <a:p>
            <a:pPr>
              <a:spcAft>
                <a:spcPts val="600"/>
              </a:spcAft>
            </a:pPr>
            <a:r>
              <a:rPr lang="en-US" sz="1600" b="1" dirty="0">
                <a:solidFill>
                  <a:schemeClr val="bg1"/>
                </a:solidFill>
              </a:rPr>
              <a:t>2520090076                           Shanmukhi</a:t>
            </a:r>
          </a:p>
          <a:p>
            <a:pPr>
              <a:spcAft>
                <a:spcPts val="600"/>
              </a:spcAft>
            </a:pPr>
            <a:r>
              <a:rPr lang="en-US" sz="1600" b="1">
                <a:solidFill>
                  <a:schemeClr val="bg1"/>
                </a:solidFill>
              </a:rPr>
              <a:t>2520090154                           Rohita</a:t>
            </a:r>
            <a:endParaRPr lang="en-US" sz="1600" dirty="0"/>
          </a:p>
        </p:txBody>
      </p:sp>
      <p:sp>
        <p:nvSpPr>
          <p:cNvPr id="7" name="Terminal window"/>
          <p:cNvSpPr/>
          <p:nvPr/>
        </p:nvSpPr>
        <p:spPr>
          <a:xfrm>
            <a:off x="7315200" y="1371600"/>
            <a:ext cx="4325112" cy="2148840"/>
          </a:xfrm>
          <a:prstGeom prst="roundRect">
            <a:avLst>
              <a:gd name="adj" fmla="val 4255"/>
            </a:avLst>
          </a:prstGeom>
          <a:solidFill>
            <a:schemeClr val="tx1"/>
          </a:solidFill>
          <a:ln w="15875">
            <a:solidFill>
              <a:schemeClr val="accent5"/>
            </a:solidFill>
            <a:prstDash val="solid"/>
          </a:ln>
        </p:spPr>
      </p:sp>
      <p:sp>
        <p:nvSpPr>
          <p:cNvPr id="8" name="Window dot 1"/>
          <p:cNvSpPr/>
          <p:nvPr/>
        </p:nvSpPr>
        <p:spPr>
          <a:xfrm>
            <a:off x="7516368" y="1527048"/>
            <a:ext cx="118872" cy="118872"/>
          </a:xfrm>
          <a:prstGeom prst="ellipse">
            <a:avLst/>
          </a:prstGeom>
          <a:solidFill>
            <a:schemeClr val="accent4">
              <a:alpha val="60000"/>
            </a:schemeClr>
          </a:solidFill>
          <a:ln w="12700">
            <a:solidFill>
              <a:schemeClr val="accent4">
                <a:alpha val="0"/>
              </a:schemeClr>
            </a:solidFill>
            <a:prstDash val="solid"/>
          </a:ln>
        </p:spPr>
      </p:sp>
      <p:sp>
        <p:nvSpPr>
          <p:cNvPr id="9" name="Window dot 2"/>
          <p:cNvSpPr/>
          <p:nvPr/>
        </p:nvSpPr>
        <p:spPr>
          <a:xfrm>
            <a:off x="7735824" y="1527048"/>
            <a:ext cx="118872" cy="118872"/>
          </a:xfrm>
          <a:prstGeom prst="ellipse">
            <a:avLst/>
          </a:prstGeom>
          <a:solidFill>
            <a:schemeClr val="accent4">
              <a:alpha val="60000"/>
            </a:schemeClr>
          </a:solidFill>
          <a:ln w="12700">
            <a:solidFill>
              <a:schemeClr val="accent4">
                <a:alpha val="0"/>
              </a:schemeClr>
            </a:solidFill>
            <a:prstDash val="solid"/>
          </a:ln>
        </p:spPr>
      </p:sp>
      <p:sp>
        <p:nvSpPr>
          <p:cNvPr id="10" name="Window dot 3"/>
          <p:cNvSpPr/>
          <p:nvPr/>
        </p:nvSpPr>
        <p:spPr>
          <a:xfrm>
            <a:off x="7955280" y="1527048"/>
            <a:ext cx="118872" cy="118872"/>
          </a:xfrm>
          <a:prstGeom prst="ellipse">
            <a:avLst/>
          </a:prstGeom>
          <a:solidFill>
            <a:schemeClr val="accent4">
              <a:alpha val="60000"/>
            </a:schemeClr>
          </a:solidFill>
          <a:ln w="12700">
            <a:solidFill>
              <a:schemeClr val="accent4">
                <a:alpha val="0"/>
              </a:schemeClr>
            </a:solidFill>
            <a:prstDash val="solid"/>
          </a:ln>
        </p:spPr>
      </p:sp>
      <p:sp>
        <p:nvSpPr>
          <p:cNvPr id="11" name="Text 8"/>
          <p:cNvSpPr txBox="1"/>
          <p:nvPr/>
        </p:nvSpPr>
        <p:spPr>
          <a:xfrm>
            <a:off x="8321040" y="1463040"/>
            <a:ext cx="3136392" cy="274320"/>
          </a:xfrm>
          <a:prstGeom prst="rect">
            <a:avLst/>
          </a:prstGeom>
          <a:noFill/>
          <a:ln/>
        </p:spPr>
        <p:txBody>
          <a:bodyPr wrap="square" lIns="0" tIns="0" rIns="0" bIns="0" rtlCol="0" anchor="ctr"/>
          <a:lstStyle/>
          <a:p>
            <a:pPr marL="0" indent="0" algn="l">
              <a:buNone/>
            </a:pPr>
            <a:r>
              <a:rPr lang="en-US" sz="1100" dirty="0">
                <a:solidFill>
                  <a:schemeClr val="accent4"/>
                </a:solidFill>
                <a:latin typeface="Courier New" pitchFamily="34" charset="0"/>
                <a:ea typeface="Courier New" pitchFamily="34" charset="-122"/>
                <a:cs typeface="Courier New" pitchFamily="34" charset="-120"/>
              </a:rPr>
              <a:t>Ubuntu 24.04 on WSL2</a:t>
            </a:r>
            <a:endParaRPr lang="en-US" sz="1100" dirty="0"/>
          </a:p>
        </p:txBody>
      </p:sp>
      <p:sp>
        <p:nvSpPr>
          <p:cNvPr id="12" name="Text 9"/>
          <p:cNvSpPr txBox="1"/>
          <p:nvPr/>
        </p:nvSpPr>
        <p:spPr>
          <a:xfrm>
            <a:off x="7589520" y="1938528"/>
            <a:ext cx="3776472" cy="1417320"/>
          </a:xfrm>
          <a:prstGeom prst="rect">
            <a:avLst/>
          </a:prstGeom>
          <a:noFill/>
          <a:ln/>
        </p:spPr>
        <p:txBody>
          <a:bodyPr wrap="square" lIns="0" tIns="0" rIns="0" bIns="0" rtlCol="0" anchor="t"/>
          <a:lstStyle/>
          <a:p>
            <a:pPr marL="0" indent="0" algn="l">
              <a:spcAft>
                <a:spcPts val="400"/>
              </a:spcAft>
              <a:buNone/>
            </a:pPr>
            <a:r>
              <a:rPr lang="en-US" sz="1400" dirty="0">
                <a:solidFill>
                  <a:schemeClr val="accent3"/>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gcc -std=c11 -Wall -Wextra \</a:t>
            </a:r>
            <a:endParaRPr lang="en-US" sz="1400" dirty="0"/>
          </a:p>
          <a:p>
            <a:pPr marL="0" indent="0" algn="l">
              <a:spcAft>
                <a:spcPts val="400"/>
              </a:spcAft>
              <a:buNone/>
            </a:pPr>
            <a:r>
              <a:rPr lang="en-US" sz="1400" dirty="0">
                <a:solidFill>
                  <a:schemeClr val="bg1"/>
                </a:solidFill>
                <a:latin typeface="Courier New" pitchFamily="34" charset="0"/>
                <a:ea typeface="Courier New" pitchFamily="34" charset="-122"/>
                <a:cs typeface="Courier New" pitchFamily="34" charset="-120"/>
              </a:rPr>
              <a:t>    benchmark.c -o benchmark</a:t>
            </a:r>
            <a:endParaRPr lang="en-US" sz="1400" dirty="0"/>
          </a:p>
          <a:p>
            <a:pPr marL="0" indent="0" algn="l">
              <a:spcAft>
                <a:spcPts val="400"/>
              </a:spcAft>
              <a:buNone/>
            </a:pPr>
            <a:r>
              <a:rPr lang="en-US" sz="1400" dirty="0">
                <a:solidFill>
                  <a:schemeClr val="accent3"/>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./benchmark</a:t>
            </a:r>
            <a:endParaRPr lang="en-US" sz="1400" dirty="0"/>
          </a:p>
        </p:txBody>
      </p:sp>
      <p:sp>
        <p:nvSpPr>
          <p:cNvPr id="13" name="GitHub icon"/>
          <p:cNvSpPr/>
          <p:nvPr/>
        </p:nvSpPr>
        <p:spPr>
          <a:xfrm>
            <a:off x="7315200" y="3886200"/>
            <a:ext cx="548640" cy="548640"/>
          </a:xfrm>
          <a:prstGeom prst="ellipse">
            <a:avLst/>
          </a:prstGeom>
          <a:solidFill>
            <a:schemeClr val="accent1"/>
          </a:solidFill>
          <a:ln w="12700">
            <a:solidFill>
              <a:schemeClr val="accent1"/>
            </a:solidFill>
            <a:prstDash val="solid"/>
          </a:ln>
        </p:spPr>
      </p:sp>
      <p:pic>
        <p:nvPicPr>
          <p:cNvPr id="14" name="Image 0" descr="GitHub icon icon"/>
          <p:cNvPicPr>
            <a:picLocks noChangeAspect="1"/>
          </p:cNvPicPr>
          <p:nvPr/>
        </p:nvPicPr>
        <p:blipFill>
          <a:blip r:embed="rId3"/>
          <a:stretch>
            <a:fillRect/>
          </a:stretch>
        </p:blipFill>
        <p:spPr>
          <a:xfrm>
            <a:off x="7452360" y="4023360"/>
            <a:ext cx="274320" cy="274320"/>
          </a:xfrm>
          <a:prstGeom prst="rect">
            <a:avLst/>
          </a:prstGeom>
        </p:spPr>
      </p:pic>
      <p:sp>
        <p:nvSpPr>
          <p:cNvPr id="15" name="Text 11"/>
          <p:cNvSpPr txBox="1"/>
          <p:nvPr/>
        </p:nvSpPr>
        <p:spPr>
          <a:xfrm>
            <a:off x="8046720" y="3886200"/>
            <a:ext cx="3566160" cy="274320"/>
          </a:xfrm>
          <a:prstGeom prst="rect">
            <a:avLst/>
          </a:prstGeom>
          <a:noFill/>
          <a:ln/>
        </p:spPr>
        <p:txBody>
          <a:bodyPr wrap="square" lIns="0" tIns="0" rIns="0" bIns="0" rtlCol="0" anchor="t"/>
          <a:lstStyle/>
          <a:p>
            <a:pPr marL="0" indent="0" algn="l">
              <a:buNone/>
            </a:pPr>
            <a:r>
              <a:rPr lang="en-US" sz="1400" b="1" dirty="0">
                <a:solidFill>
                  <a:schemeClr val="bg1"/>
                </a:solidFill>
              </a:rPr>
              <a:t>Source code on GitHub</a:t>
            </a:r>
            <a:endParaRPr lang="en-US" sz="1400" dirty="0"/>
          </a:p>
        </p:txBody>
      </p:sp>
      <p:sp>
        <p:nvSpPr>
          <p:cNvPr id="16" name="Text 12"/>
          <p:cNvSpPr txBox="1"/>
          <p:nvPr/>
        </p:nvSpPr>
        <p:spPr>
          <a:xfrm>
            <a:off x="8046720" y="4206240"/>
            <a:ext cx="3611880" cy="274320"/>
          </a:xfrm>
          <a:prstGeom prst="rect">
            <a:avLst/>
          </a:prstGeom>
          <a:noFill/>
          <a:ln/>
        </p:spPr>
        <p:txBody>
          <a:bodyPr wrap="square" lIns="0" tIns="0" rIns="0" bIns="0" rtlCol="0" anchor="t"/>
          <a:lstStyle/>
          <a:p>
            <a:pPr marL="0" indent="0" algn="l">
              <a:buNone/>
            </a:pPr>
            <a:r>
              <a:rPr lang="en-US" sz="1100" dirty="0">
                <a:solidFill>
                  <a:schemeClr val="accent2"/>
                </a:solidFill>
              </a:rPr>
              <a:t>github.com/Srivalli-29/linux-performance-benchmark-tool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Introduction</a:t>
            </a:r>
            <a:endParaRPr lang="en-US" sz="3600" dirty="0"/>
          </a:p>
        </p:txBody>
      </p:sp>
      <p:sp>
        <p:nvSpPr>
          <p:cNvPr id="4" name="Icon 1"/>
          <p:cNvSpPr/>
          <p:nvPr/>
        </p:nvSpPr>
        <p:spPr>
          <a:xfrm>
            <a:off x="548640" y="1600200"/>
            <a:ext cx="685800" cy="685800"/>
          </a:xfrm>
          <a:prstGeom prst="ellipse">
            <a:avLst/>
          </a:prstGeom>
          <a:solidFill>
            <a:schemeClr val="accent1"/>
          </a:solidFill>
          <a:ln w="12700">
            <a:solidFill>
              <a:schemeClr val="accent1"/>
            </a:solidFill>
            <a:prstDash val="solid"/>
          </a:ln>
        </p:spPr>
      </p:sp>
      <p:pic>
        <p:nvPicPr>
          <p:cNvPr id="5" name="Image 0" descr="Icon 1 icon"/>
          <p:cNvPicPr>
            <a:picLocks noChangeAspect="1"/>
          </p:cNvPicPr>
          <p:nvPr/>
        </p:nvPicPr>
        <p:blipFill>
          <a:blip r:embed="rId3"/>
          <a:stretch>
            <a:fillRect/>
          </a:stretch>
        </p:blipFill>
        <p:spPr>
          <a:xfrm>
            <a:off x="720090" y="1771650"/>
            <a:ext cx="342900" cy="342900"/>
          </a:xfrm>
          <a:prstGeom prst="rect">
            <a:avLst/>
          </a:prstGeom>
        </p:spPr>
      </p:pic>
      <p:sp>
        <p:nvSpPr>
          <p:cNvPr id="6" name="Text 2"/>
          <p:cNvSpPr txBox="1"/>
          <p:nvPr/>
        </p:nvSpPr>
        <p:spPr>
          <a:xfrm>
            <a:off x="1508760" y="1600200"/>
            <a:ext cx="4754880" cy="365760"/>
          </a:xfrm>
          <a:prstGeom prst="rect">
            <a:avLst/>
          </a:prstGeom>
          <a:noFill/>
          <a:ln/>
        </p:spPr>
        <p:txBody>
          <a:bodyPr wrap="square" lIns="0" tIns="0" rIns="0" bIns="0" rtlCol="0" anchor="t"/>
          <a:lstStyle/>
          <a:p>
            <a:pPr marL="0" indent="0" algn="l">
              <a:buNone/>
            </a:pPr>
            <a:r>
              <a:rPr lang="en-US" sz="2000" b="1" dirty="0">
                <a:solidFill>
                  <a:schemeClr val="bg1"/>
                </a:solidFill>
              </a:rPr>
              <a:t>What is benchmarking?</a:t>
            </a:r>
            <a:endParaRPr lang="en-US" sz="2000" dirty="0"/>
          </a:p>
        </p:txBody>
      </p:sp>
      <p:sp>
        <p:nvSpPr>
          <p:cNvPr id="7" name="Text 3"/>
          <p:cNvSpPr txBox="1"/>
          <p:nvPr/>
        </p:nvSpPr>
        <p:spPr>
          <a:xfrm>
            <a:off x="1508760" y="2011680"/>
            <a:ext cx="4754880" cy="822960"/>
          </a:xfrm>
          <a:prstGeom prst="rect">
            <a:avLst/>
          </a:prstGeom>
          <a:noFill/>
          <a:ln/>
        </p:spPr>
        <p:txBody>
          <a:bodyPr wrap="square" lIns="0" tIns="0" rIns="0" bIns="0" rtlCol="0" anchor="t"/>
          <a:lstStyle/>
          <a:p>
            <a:pPr marL="0" indent="0" algn="l">
              <a:buNone/>
            </a:pPr>
            <a:r>
              <a:rPr lang="en-US" sz="1500" dirty="0">
                <a:solidFill>
                  <a:schemeClr val="bg2"/>
                </a:solidFill>
              </a:rPr>
              <a:t>Running a fixed workload and measuring how long it takes to finish.</a:t>
            </a:r>
            <a:endParaRPr lang="en-US" sz="1500" dirty="0"/>
          </a:p>
        </p:txBody>
      </p:sp>
      <p:sp>
        <p:nvSpPr>
          <p:cNvPr id="8" name="Icon 2"/>
          <p:cNvSpPr/>
          <p:nvPr/>
        </p:nvSpPr>
        <p:spPr>
          <a:xfrm>
            <a:off x="548640" y="3108960"/>
            <a:ext cx="685800" cy="685800"/>
          </a:xfrm>
          <a:prstGeom prst="ellipse">
            <a:avLst/>
          </a:prstGeom>
          <a:solidFill>
            <a:schemeClr val="accent1"/>
          </a:solidFill>
          <a:ln w="12700">
            <a:solidFill>
              <a:schemeClr val="accent1"/>
            </a:solidFill>
            <a:prstDash val="solid"/>
          </a:ln>
        </p:spPr>
      </p:sp>
      <p:pic>
        <p:nvPicPr>
          <p:cNvPr id="9" name="Image 1" descr="Icon 2 icon"/>
          <p:cNvPicPr>
            <a:picLocks noChangeAspect="1"/>
          </p:cNvPicPr>
          <p:nvPr/>
        </p:nvPicPr>
        <p:blipFill>
          <a:blip r:embed="rId4"/>
          <a:stretch>
            <a:fillRect/>
          </a:stretch>
        </p:blipFill>
        <p:spPr>
          <a:xfrm>
            <a:off x="720090" y="3280410"/>
            <a:ext cx="342900" cy="342900"/>
          </a:xfrm>
          <a:prstGeom prst="rect">
            <a:avLst/>
          </a:prstGeom>
        </p:spPr>
      </p:pic>
      <p:sp>
        <p:nvSpPr>
          <p:cNvPr id="10" name="Text 5"/>
          <p:cNvSpPr txBox="1"/>
          <p:nvPr/>
        </p:nvSpPr>
        <p:spPr>
          <a:xfrm>
            <a:off x="1508760" y="3108960"/>
            <a:ext cx="4754880" cy="365760"/>
          </a:xfrm>
          <a:prstGeom prst="rect">
            <a:avLst/>
          </a:prstGeom>
          <a:noFill/>
          <a:ln/>
        </p:spPr>
        <p:txBody>
          <a:bodyPr wrap="square" lIns="0" tIns="0" rIns="0" bIns="0" rtlCol="0" anchor="t"/>
          <a:lstStyle/>
          <a:p>
            <a:pPr marL="0" indent="0" algn="l">
              <a:buNone/>
            </a:pPr>
            <a:r>
              <a:rPr lang="en-US" sz="2000" b="1" dirty="0">
                <a:solidFill>
                  <a:schemeClr val="bg1"/>
                </a:solidFill>
              </a:rPr>
              <a:t>Why measure execution time?</a:t>
            </a:r>
            <a:endParaRPr lang="en-US" sz="2000" dirty="0"/>
          </a:p>
        </p:txBody>
      </p:sp>
      <p:sp>
        <p:nvSpPr>
          <p:cNvPr id="11" name="Text 6"/>
          <p:cNvSpPr txBox="1"/>
          <p:nvPr/>
        </p:nvSpPr>
        <p:spPr>
          <a:xfrm>
            <a:off x="1508760" y="3520440"/>
            <a:ext cx="4754880" cy="822960"/>
          </a:xfrm>
          <a:prstGeom prst="rect">
            <a:avLst/>
          </a:prstGeom>
          <a:noFill/>
          <a:ln/>
        </p:spPr>
        <p:txBody>
          <a:bodyPr wrap="square" lIns="0" tIns="0" rIns="0" bIns="0" rtlCol="0" anchor="t"/>
          <a:lstStyle/>
          <a:p>
            <a:pPr marL="0" indent="0" algn="l">
              <a:buNone/>
            </a:pPr>
            <a:r>
              <a:rPr lang="en-US" sz="1500" dirty="0">
                <a:solidFill>
                  <a:schemeClr val="bg2"/>
                </a:solidFill>
              </a:rPr>
              <a:t>It is a simple, comparable number: less time means the workload finished faster.</a:t>
            </a:r>
            <a:endParaRPr lang="en-US" sz="1500" dirty="0"/>
          </a:p>
        </p:txBody>
      </p:sp>
      <p:sp>
        <p:nvSpPr>
          <p:cNvPr id="12" name="Icon 3"/>
          <p:cNvSpPr/>
          <p:nvPr/>
        </p:nvSpPr>
        <p:spPr>
          <a:xfrm>
            <a:off x="548640" y="4617720"/>
            <a:ext cx="685800" cy="685800"/>
          </a:xfrm>
          <a:prstGeom prst="ellipse">
            <a:avLst/>
          </a:prstGeom>
          <a:solidFill>
            <a:schemeClr val="accent1"/>
          </a:solidFill>
          <a:ln w="12700">
            <a:solidFill>
              <a:schemeClr val="accent1"/>
            </a:solidFill>
            <a:prstDash val="solid"/>
          </a:ln>
        </p:spPr>
      </p:sp>
      <p:pic>
        <p:nvPicPr>
          <p:cNvPr id="13" name="Image 2" descr="Icon 3 icon"/>
          <p:cNvPicPr>
            <a:picLocks noChangeAspect="1"/>
          </p:cNvPicPr>
          <p:nvPr/>
        </p:nvPicPr>
        <p:blipFill>
          <a:blip r:embed="rId5"/>
          <a:stretch>
            <a:fillRect/>
          </a:stretch>
        </p:blipFill>
        <p:spPr>
          <a:xfrm>
            <a:off x="720090" y="4789170"/>
            <a:ext cx="342900" cy="342900"/>
          </a:xfrm>
          <a:prstGeom prst="rect">
            <a:avLst/>
          </a:prstGeom>
        </p:spPr>
      </p:pic>
      <p:sp>
        <p:nvSpPr>
          <p:cNvPr id="14" name="Text 8"/>
          <p:cNvSpPr txBox="1"/>
          <p:nvPr/>
        </p:nvSpPr>
        <p:spPr>
          <a:xfrm>
            <a:off x="1508760" y="4617720"/>
            <a:ext cx="4754880" cy="365760"/>
          </a:xfrm>
          <a:prstGeom prst="rect">
            <a:avLst/>
          </a:prstGeom>
          <a:noFill/>
          <a:ln/>
        </p:spPr>
        <p:txBody>
          <a:bodyPr wrap="square" lIns="0" tIns="0" rIns="0" bIns="0" rtlCol="0" anchor="t"/>
          <a:lstStyle/>
          <a:p>
            <a:pPr marL="0" indent="0" algn="l">
              <a:buNone/>
            </a:pPr>
            <a:r>
              <a:rPr lang="en-US" sz="2000" b="1" dirty="0">
                <a:solidFill>
                  <a:schemeClr val="bg1"/>
                </a:solidFill>
              </a:rPr>
              <a:t>Why is it useful?</a:t>
            </a:r>
            <a:endParaRPr lang="en-US" sz="2000" dirty="0"/>
          </a:p>
        </p:txBody>
      </p:sp>
      <p:sp>
        <p:nvSpPr>
          <p:cNvPr id="15" name="Text 9"/>
          <p:cNvSpPr txBox="1"/>
          <p:nvPr/>
        </p:nvSpPr>
        <p:spPr>
          <a:xfrm>
            <a:off x="1508760" y="5029200"/>
            <a:ext cx="4754880" cy="822960"/>
          </a:xfrm>
          <a:prstGeom prst="rect">
            <a:avLst/>
          </a:prstGeom>
          <a:noFill/>
          <a:ln/>
        </p:spPr>
        <p:txBody>
          <a:bodyPr wrap="square" lIns="0" tIns="0" rIns="0" bIns="0" rtlCol="0" anchor="t"/>
          <a:lstStyle/>
          <a:p>
            <a:pPr marL="0" indent="0" algn="l">
              <a:buNone/>
            </a:pPr>
            <a:r>
              <a:rPr lang="en-US" sz="1500" dirty="0">
                <a:solidFill>
                  <a:schemeClr val="bg2"/>
                </a:solidFill>
              </a:rPr>
              <a:t>It helps compare systems, spot slow operations and check the effect of changes.</a:t>
            </a:r>
            <a:endParaRPr lang="en-US" sz="1500" dirty="0"/>
          </a:p>
        </p:txBody>
      </p:sp>
      <p:sp>
        <p:nvSpPr>
          <p:cNvPr id="16" name="Timing diagram card"/>
          <p:cNvSpPr/>
          <p:nvPr/>
        </p:nvSpPr>
        <p:spPr>
          <a:xfrm>
            <a:off x="6766560" y="1508760"/>
            <a:ext cx="4873752" cy="4526280"/>
          </a:xfrm>
          <a:prstGeom prst="roundRect">
            <a:avLst>
              <a:gd name="adj" fmla="val 2424"/>
            </a:avLst>
          </a:prstGeom>
          <a:solidFill>
            <a:schemeClr val="tx2"/>
          </a:solidFill>
          <a:ln w="12700">
            <a:solidFill>
              <a:schemeClr val="accent5"/>
            </a:solidFill>
            <a:prstDash val="solid"/>
          </a:ln>
        </p:spPr>
      </p:sp>
      <p:sp>
        <p:nvSpPr>
          <p:cNvPr id="17" name="Text 11"/>
          <p:cNvSpPr txBox="1"/>
          <p:nvPr/>
        </p:nvSpPr>
        <p:spPr>
          <a:xfrm>
            <a:off x="7132320" y="1737360"/>
            <a:ext cx="4114800" cy="365760"/>
          </a:xfrm>
          <a:prstGeom prst="rect">
            <a:avLst/>
          </a:prstGeom>
          <a:noFill/>
          <a:ln/>
        </p:spPr>
        <p:txBody>
          <a:bodyPr wrap="square" lIns="0" tIns="0" rIns="0" bIns="0" rtlCol="0" anchor="t"/>
          <a:lstStyle/>
          <a:p>
            <a:pPr marL="0" indent="0" algn="l">
              <a:buNone/>
            </a:pPr>
            <a:r>
              <a:rPr lang="en-US" sz="1800" b="1" dirty="0">
                <a:solidFill>
                  <a:schemeClr val="bg1"/>
                </a:solidFill>
              </a:rPr>
              <a:t>Timing a workload</a:t>
            </a:r>
            <a:endParaRPr lang="en-US" sz="1800" dirty="0"/>
          </a:p>
        </p:txBody>
      </p:sp>
      <p:sp>
        <p:nvSpPr>
          <p:cNvPr id="18" name="Step: start"/>
          <p:cNvSpPr txBox="1"/>
          <p:nvPr/>
        </p:nvSpPr>
        <p:spPr>
          <a:xfrm>
            <a:off x="7223760" y="2331720"/>
            <a:ext cx="3959352" cy="685800"/>
          </a:xfrm>
          <a:prstGeom prst="roundRect">
            <a:avLst>
              <a:gd name="adj" fmla="val 13333"/>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Record start time</a:t>
            </a:r>
            <a:endParaRPr lang="en-US" sz="1400" dirty="0"/>
          </a:p>
        </p:txBody>
      </p:sp>
      <p:sp>
        <p:nvSpPr>
          <p:cNvPr id="19" name="Arrow 1"/>
          <p:cNvSpPr/>
          <p:nvPr/>
        </p:nvSpPr>
        <p:spPr>
          <a:xfrm>
            <a:off x="9203436" y="3017520"/>
            <a:ext cx="0" cy="365760"/>
          </a:xfrm>
          <a:prstGeom prst="line">
            <a:avLst/>
          </a:prstGeom>
          <a:noFill/>
          <a:ln w="25400">
            <a:solidFill>
              <a:schemeClr val="accent2"/>
            </a:solidFill>
            <a:prstDash val="solid"/>
            <a:tailEnd type="triangle"/>
          </a:ln>
        </p:spPr>
      </p:sp>
      <p:sp>
        <p:nvSpPr>
          <p:cNvPr id="20" name="Step: workload"/>
          <p:cNvSpPr txBox="1"/>
          <p:nvPr/>
        </p:nvSpPr>
        <p:spPr>
          <a:xfrm>
            <a:off x="7223760" y="3383280"/>
            <a:ext cx="3959352" cy="685800"/>
          </a:xfrm>
          <a:prstGeom prst="roundRect">
            <a:avLst>
              <a:gd name="adj" fmla="val 13333"/>
            </a:avLst>
          </a:prstGeom>
          <a:solidFill>
            <a:schemeClr val="accent1"/>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Run workload (CPU / memory / file I/O)</a:t>
            </a:r>
            <a:endParaRPr lang="en-US" sz="1400" dirty="0"/>
          </a:p>
        </p:txBody>
      </p:sp>
      <p:sp>
        <p:nvSpPr>
          <p:cNvPr id="21" name="Arrow 2"/>
          <p:cNvSpPr/>
          <p:nvPr/>
        </p:nvSpPr>
        <p:spPr>
          <a:xfrm>
            <a:off x="9203436" y="4069080"/>
            <a:ext cx="0" cy="365760"/>
          </a:xfrm>
          <a:prstGeom prst="line">
            <a:avLst/>
          </a:prstGeom>
          <a:noFill/>
          <a:ln w="25400">
            <a:solidFill>
              <a:schemeClr val="accent2"/>
            </a:solidFill>
            <a:prstDash val="solid"/>
            <a:tailEnd type="triangle"/>
          </a:ln>
        </p:spPr>
      </p:sp>
      <p:sp>
        <p:nvSpPr>
          <p:cNvPr id="22" name="Step: end"/>
          <p:cNvSpPr txBox="1"/>
          <p:nvPr/>
        </p:nvSpPr>
        <p:spPr>
          <a:xfrm>
            <a:off x="7223760" y="4434840"/>
            <a:ext cx="3959352" cy="685800"/>
          </a:xfrm>
          <a:prstGeom prst="roundRect">
            <a:avLst>
              <a:gd name="adj" fmla="val 13333"/>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Record end time</a:t>
            </a:r>
            <a:endParaRPr lang="en-US" sz="1400" dirty="0"/>
          </a:p>
        </p:txBody>
      </p:sp>
      <p:sp>
        <p:nvSpPr>
          <p:cNvPr id="23" name="Formula box"/>
          <p:cNvSpPr/>
          <p:nvPr/>
        </p:nvSpPr>
        <p:spPr>
          <a:xfrm>
            <a:off x="7223760" y="5303520"/>
            <a:ext cx="3959352" cy="502920"/>
          </a:xfrm>
          <a:prstGeom prst="roundRect">
            <a:avLst>
              <a:gd name="adj" fmla="val 14545"/>
            </a:avLst>
          </a:prstGeom>
          <a:solidFill>
            <a:schemeClr val="tx1"/>
          </a:solidFill>
          <a:ln w="12700">
            <a:solidFill>
              <a:schemeClr val="accent5"/>
            </a:solidFill>
            <a:prstDash val="solid"/>
          </a:ln>
        </p:spPr>
      </p:sp>
      <p:sp>
        <p:nvSpPr>
          <p:cNvPr id="24" name="Text 18"/>
          <p:cNvSpPr txBox="1"/>
          <p:nvPr/>
        </p:nvSpPr>
        <p:spPr>
          <a:xfrm>
            <a:off x="7223760" y="5303520"/>
            <a:ext cx="3959352" cy="502920"/>
          </a:xfrm>
          <a:prstGeom prst="rect">
            <a:avLst/>
          </a:prstGeom>
          <a:noFill/>
          <a:ln/>
        </p:spPr>
        <p:txBody>
          <a:bodyPr wrap="square" lIns="0" tIns="0" rIns="0" bIns="0" rtlCol="0" anchor="ctr"/>
          <a:lstStyle/>
          <a:p>
            <a:pPr marL="0" indent="0" algn="ctr">
              <a:buNone/>
            </a:pPr>
            <a:r>
              <a:rPr lang="en-US" sz="1600" dirty="0">
                <a:solidFill>
                  <a:schemeClr val="accent3"/>
                </a:solidFill>
                <a:latin typeface="Courier New" pitchFamily="34" charset="0"/>
                <a:ea typeface="Courier New" pitchFamily="34" charset="-122"/>
                <a:cs typeface="Courier New" pitchFamily="34" charset="-120"/>
              </a:rPr>
              <a:t>elapsed = end − start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Problem Statement</a:t>
            </a:r>
            <a:endParaRPr lang="en-US" sz="3600" dirty="0"/>
          </a:p>
        </p:txBody>
      </p:sp>
      <p:sp>
        <p:nvSpPr>
          <p:cNvPr id="4" name="Text 1"/>
          <p:cNvSpPr txBox="1"/>
          <p:nvPr/>
        </p:nvSpPr>
        <p:spPr>
          <a:xfrm>
            <a:off x="548640" y="1600200"/>
            <a:ext cx="5394960" cy="1463040"/>
          </a:xfrm>
          <a:prstGeom prst="rect">
            <a:avLst/>
          </a:prstGeom>
          <a:noFill/>
          <a:ln/>
        </p:spPr>
        <p:txBody>
          <a:bodyPr wrap="square" lIns="0" tIns="0" rIns="0" bIns="0" rtlCol="0" anchor="t"/>
          <a:lstStyle/>
          <a:p>
            <a:pPr marL="0" indent="0" algn="l">
              <a:buNone/>
            </a:pPr>
            <a:r>
              <a:rPr lang="en-US" sz="2400" b="1" dirty="0">
                <a:solidFill>
                  <a:schemeClr val="bg1"/>
                </a:solidFill>
              </a:rPr>
              <a:t>Comprehensive profiling tools can be complex when you only want to time a few basic operations.</a:t>
            </a:r>
            <a:endParaRPr lang="en-US" sz="2400" dirty="0"/>
          </a:p>
        </p:txBody>
      </p:sp>
      <p:sp>
        <p:nvSpPr>
          <p:cNvPr id="5" name="Text 2"/>
          <p:cNvSpPr txBox="1"/>
          <p:nvPr/>
        </p:nvSpPr>
        <p:spPr>
          <a:xfrm>
            <a:off x="548640" y="3383280"/>
            <a:ext cx="5394960" cy="2651760"/>
          </a:xfrm>
          <a:prstGeom prst="rect">
            <a:avLst/>
          </a:prstGeom>
          <a:noFill/>
          <a:ln/>
        </p:spPr>
        <p:txBody>
          <a:bodyPr wrap="square" lIns="0" tIns="0" rIns="0" bIns="0" rtlCol="0" anchor="t"/>
          <a:lstStyle/>
          <a:p>
            <a:pPr marL="342900" indent="-342900" algn="l">
              <a:spcAft>
                <a:spcPts val="800"/>
              </a:spcAft>
              <a:buSzPct val="100000"/>
              <a:buChar char="•"/>
            </a:pPr>
            <a:r>
              <a:rPr lang="en-US" sz="1600" dirty="0">
                <a:solidFill>
                  <a:schemeClr val="bg1"/>
                </a:solidFill>
              </a:rPr>
              <a:t>A simple, readable tool is needed</a:t>
            </a:r>
            <a:endParaRPr lang="en-US" sz="1800" dirty="0"/>
          </a:p>
          <a:p>
            <a:pPr marL="342900" indent="-342900" algn="l">
              <a:spcAft>
                <a:spcPts val="800"/>
              </a:spcAft>
              <a:buSzPct val="100000"/>
              <a:buChar char="•"/>
            </a:pPr>
            <a:r>
              <a:rPr lang="en-US" sz="1600" dirty="0">
                <a:solidFill>
                  <a:schemeClr val="bg1"/>
                </a:solidFill>
              </a:rPr>
              <a:t>Selected CPU, memory and file I/O operations</a:t>
            </a:r>
            <a:endParaRPr lang="en-US" sz="1800" dirty="0"/>
          </a:p>
          <a:p>
            <a:pPr marL="342900" indent="-342900" algn="l">
              <a:spcAft>
                <a:spcPts val="800"/>
              </a:spcAft>
              <a:buSzPct val="100000"/>
              <a:buChar char="•"/>
            </a:pPr>
            <a:r>
              <a:rPr lang="en-US" sz="1600" dirty="0">
                <a:solidFill>
                  <a:schemeClr val="bg1"/>
                </a:solidFill>
              </a:rPr>
              <a:t>Repeated runs to see variation</a:t>
            </a:r>
            <a:endParaRPr lang="en-US" sz="1800" dirty="0"/>
          </a:p>
          <a:p>
            <a:pPr marL="342900" indent="-342900" algn="l">
              <a:spcAft>
                <a:spcPts val="800"/>
              </a:spcAft>
              <a:buSzPct val="100000"/>
              <a:buChar char="•"/>
            </a:pPr>
            <a:r>
              <a:rPr lang="en-US" sz="1600" dirty="0">
                <a:solidFill>
                  <a:schemeClr val="bg1"/>
                </a:solidFill>
              </a:rPr>
              <a:t>Results saved for later analysis</a:t>
            </a:r>
            <a:endParaRPr lang="en-US" sz="1800" dirty="0"/>
          </a:p>
        </p:txBody>
      </p:sp>
      <p:sp>
        <p:nvSpPr>
          <p:cNvPr id="6" name="Workload card: CPU"/>
          <p:cNvSpPr/>
          <p:nvPr/>
        </p:nvSpPr>
        <p:spPr>
          <a:xfrm>
            <a:off x="6583680" y="1600200"/>
            <a:ext cx="5056632" cy="1280160"/>
          </a:xfrm>
          <a:prstGeom prst="roundRect">
            <a:avLst>
              <a:gd name="adj" fmla="val 8571"/>
            </a:avLst>
          </a:prstGeom>
          <a:solidFill>
            <a:schemeClr val="tx2"/>
          </a:solidFill>
          <a:ln w="12700">
            <a:solidFill>
              <a:schemeClr val="accent5"/>
            </a:solidFill>
            <a:prstDash val="solid"/>
          </a:ln>
        </p:spPr>
      </p:sp>
      <p:sp>
        <p:nvSpPr>
          <p:cNvPr id="7" name="CPU icon"/>
          <p:cNvSpPr/>
          <p:nvPr/>
        </p:nvSpPr>
        <p:spPr>
          <a:xfrm>
            <a:off x="6858000" y="1874520"/>
            <a:ext cx="731520" cy="731520"/>
          </a:xfrm>
          <a:prstGeom prst="ellipse">
            <a:avLst/>
          </a:prstGeom>
          <a:solidFill>
            <a:schemeClr val="accent1"/>
          </a:solidFill>
          <a:ln w="12700">
            <a:solidFill>
              <a:schemeClr val="accent1"/>
            </a:solidFill>
            <a:prstDash val="solid"/>
          </a:ln>
        </p:spPr>
      </p:sp>
      <p:pic>
        <p:nvPicPr>
          <p:cNvPr id="8" name="Image 0" descr="CPU icon icon"/>
          <p:cNvPicPr>
            <a:picLocks noChangeAspect="1"/>
          </p:cNvPicPr>
          <p:nvPr/>
        </p:nvPicPr>
        <p:blipFill>
          <a:blip r:embed="rId3"/>
          <a:stretch>
            <a:fillRect/>
          </a:stretch>
        </p:blipFill>
        <p:spPr>
          <a:xfrm>
            <a:off x="7040880" y="2057400"/>
            <a:ext cx="365760" cy="365760"/>
          </a:xfrm>
          <a:prstGeom prst="rect">
            <a:avLst/>
          </a:prstGeom>
        </p:spPr>
      </p:pic>
      <p:sp>
        <p:nvSpPr>
          <p:cNvPr id="9" name="Text 5"/>
          <p:cNvSpPr txBox="1"/>
          <p:nvPr/>
        </p:nvSpPr>
        <p:spPr>
          <a:xfrm>
            <a:off x="7863840" y="1856232"/>
            <a:ext cx="3566160" cy="365760"/>
          </a:xfrm>
          <a:prstGeom prst="rect">
            <a:avLst/>
          </a:prstGeom>
          <a:noFill/>
          <a:ln/>
        </p:spPr>
        <p:txBody>
          <a:bodyPr wrap="square" lIns="0" tIns="0" rIns="0" bIns="0" rtlCol="0" anchor="t"/>
          <a:lstStyle/>
          <a:p>
            <a:pPr marL="0" indent="0" algn="l">
              <a:buNone/>
            </a:pPr>
            <a:r>
              <a:rPr lang="en-US" sz="2000" b="1" dirty="0">
                <a:solidFill>
                  <a:schemeClr val="bg1"/>
                </a:solidFill>
              </a:rPr>
              <a:t>CPU</a:t>
            </a:r>
            <a:endParaRPr lang="en-US" sz="2000" dirty="0"/>
          </a:p>
        </p:txBody>
      </p:sp>
      <p:sp>
        <p:nvSpPr>
          <p:cNvPr id="10" name="Text 6"/>
          <p:cNvSpPr txBox="1"/>
          <p:nvPr/>
        </p:nvSpPr>
        <p:spPr>
          <a:xfrm>
            <a:off x="7863840" y="2240280"/>
            <a:ext cx="3566160" cy="502920"/>
          </a:xfrm>
          <a:prstGeom prst="rect">
            <a:avLst/>
          </a:prstGeom>
          <a:noFill/>
          <a:ln/>
        </p:spPr>
        <p:txBody>
          <a:bodyPr wrap="square" lIns="0" tIns="0" rIns="0" bIns="0" rtlCol="0" anchor="t"/>
          <a:lstStyle/>
          <a:p>
            <a:pPr marL="0" indent="0" algn="l">
              <a:buNone/>
            </a:pPr>
            <a:r>
              <a:rPr lang="en-US" sz="1500" dirty="0">
                <a:solidFill>
                  <a:schemeClr val="accent4"/>
                </a:solidFill>
              </a:rPr>
              <a:t>A fixed calculation workload</a:t>
            </a:r>
            <a:endParaRPr lang="en-US" sz="1500" dirty="0"/>
          </a:p>
        </p:txBody>
      </p:sp>
      <p:sp>
        <p:nvSpPr>
          <p:cNvPr id="11" name="Workload card: Memory"/>
          <p:cNvSpPr/>
          <p:nvPr/>
        </p:nvSpPr>
        <p:spPr>
          <a:xfrm>
            <a:off x="6583680" y="3108960"/>
            <a:ext cx="5056632" cy="1280160"/>
          </a:xfrm>
          <a:prstGeom prst="roundRect">
            <a:avLst>
              <a:gd name="adj" fmla="val 8571"/>
            </a:avLst>
          </a:prstGeom>
          <a:solidFill>
            <a:schemeClr val="tx2"/>
          </a:solidFill>
          <a:ln w="12700">
            <a:solidFill>
              <a:schemeClr val="accent5"/>
            </a:solidFill>
            <a:prstDash val="solid"/>
          </a:ln>
        </p:spPr>
      </p:sp>
      <p:sp>
        <p:nvSpPr>
          <p:cNvPr id="12" name="Memory icon"/>
          <p:cNvSpPr/>
          <p:nvPr/>
        </p:nvSpPr>
        <p:spPr>
          <a:xfrm>
            <a:off x="6858000" y="3383280"/>
            <a:ext cx="731520" cy="731520"/>
          </a:xfrm>
          <a:prstGeom prst="ellipse">
            <a:avLst/>
          </a:prstGeom>
          <a:solidFill>
            <a:schemeClr val="accent1"/>
          </a:solidFill>
          <a:ln w="12700">
            <a:solidFill>
              <a:schemeClr val="accent1"/>
            </a:solidFill>
            <a:prstDash val="solid"/>
          </a:ln>
        </p:spPr>
      </p:sp>
      <p:pic>
        <p:nvPicPr>
          <p:cNvPr id="13" name="Image 1" descr="Memory icon icon"/>
          <p:cNvPicPr>
            <a:picLocks noChangeAspect="1"/>
          </p:cNvPicPr>
          <p:nvPr/>
        </p:nvPicPr>
        <p:blipFill>
          <a:blip r:embed="rId4"/>
          <a:stretch>
            <a:fillRect/>
          </a:stretch>
        </p:blipFill>
        <p:spPr>
          <a:xfrm>
            <a:off x="7040880" y="3566160"/>
            <a:ext cx="365760" cy="365760"/>
          </a:xfrm>
          <a:prstGeom prst="rect">
            <a:avLst/>
          </a:prstGeom>
        </p:spPr>
      </p:pic>
      <p:sp>
        <p:nvSpPr>
          <p:cNvPr id="14" name="Text 9"/>
          <p:cNvSpPr txBox="1"/>
          <p:nvPr/>
        </p:nvSpPr>
        <p:spPr>
          <a:xfrm>
            <a:off x="7863840" y="3364992"/>
            <a:ext cx="3566160" cy="365760"/>
          </a:xfrm>
          <a:prstGeom prst="rect">
            <a:avLst/>
          </a:prstGeom>
          <a:noFill/>
          <a:ln/>
        </p:spPr>
        <p:txBody>
          <a:bodyPr wrap="square" lIns="0" tIns="0" rIns="0" bIns="0" rtlCol="0" anchor="t"/>
          <a:lstStyle/>
          <a:p>
            <a:pPr marL="0" indent="0" algn="l">
              <a:buNone/>
            </a:pPr>
            <a:r>
              <a:rPr lang="en-US" sz="2000" b="1" dirty="0">
                <a:solidFill>
                  <a:schemeClr val="bg1"/>
                </a:solidFill>
              </a:rPr>
              <a:t>Memory</a:t>
            </a:r>
            <a:endParaRPr lang="en-US" sz="2000" dirty="0"/>
          </a:p>
        </p:txBody>
      </p:sp>
      <p:sp>
        <p:nvSpPr>
          <p:cNvPr id="15" name="Text 10"/>
          <p:cNvSpPr txBox="1"/>
          <p:nvPr/>
        </p:nvSpPr>
        <p:spPr>
          <a:xfrm>
            <a:off x="7863840" y="3749040"/>
            <a:ext cx="3566160" cy="502920"/>
          </a:xfrm>
          <a:prstGeom prst="rect">
            <a:avLst/>
          </a:prstGeom>
          <a:noFill/>
          <a:ln/>
        </p:spPr>
        <p:txBody>
          <a:bodyPr wrap="square" lIns="0" tIns="0" rIns="0" bIns="0" rtlCol="0" anchor="t"/>
          <a:lstStyle/>
          <a:p>
            <a:pPr marL="0" indent="0" algn="l">
              <a:buNone/>
            </a:pPr>
            <a:r>
              <a:rPr lang="en-US" sz="1500" dirty="0">
                <a:solidFill>
                  <a:schemeClr val="accent4"/>
                </a:solidFill>
              </a:rPr>
              <a:t>Allocate and initialize 4,000,000 bytes</a:t>
            </a:r>
            <a:endParaRPr lang="en-US" sz="1500" dirty="0"/>
          </a:p>
        </p:txBody>
      </p:sp>
      <p:sp>
        <p:nvSpPr>
          <p:cNvPr id="16" name="Workload card: File I/O"/>
          <p:cNvSpPr/>
          <p:nvPr/>
        </p:nvSpPr>
        <p:spPr>
          <a:xfrm>
            <a:off x="6583680" y="4617720"/>
            <a:ext cx="5056632" cy="1280160"/>
          </a:xfrm>
          <a:prstGeom prst="roundRect">
            <a:avLst>
              <a:gd name="adj" fmla="val 8571"/>
            </a:avLst>
          </a:prstGeom>
          <a:solidFill>
            <a:schemeClr val="tx2"/>
          </a:solidFill>
          <a:ln w="12700">
            <a:solidFill>
              <a:schemeClr val="accent5"/>
            </a:solidFill>
            <a:prstDash val="solid"/>
          </a:ln>
        </p:spPr>
      </p:sp>
      <p:sp>
        <p:nvSpPr>
          <p:cNvPr id="17" name="File I/O icon"/>
          <p:cNvSpPr/>
          <p:nvPr/>
        </p:nvSpPr>
        <p:spPr>
          <a:xfrm>
            <a:off x="6858000" y="4892040"/>
            <a:ext cx="731520" cy="731520"/>
          </a:xfrm>
          <a:prstGeom prst="ellipse">
            <a:avLst/>
          </a:prstGeom>
          <a:solidFill>
            <a:schemeClr val="accent1"/>
          </a:solidFill>
          <a:ln w="12700">
            <a:solidFill>
              <a:schemeClr val="accent1"/>
            </a:solidFill>
            <a:prstDash val="solid"/>
          </a:ln>
        </p:spPr>
      </p:sp>
      <p:pic>
        <p:nvPicPr>
          <p:cNvPr id="18" name="Image 2" descr="File I/O icon icon"/>
          <p:cNvPicPr>
            <a:picLocks noChangeAspect="1"/>
          </p:cNvPicPr>
          <p:nvPr/>
        </p:nvPicPr>
        <p:blipFill>
          <a:blip r:embed="rId5"/>
          <a:stretch>
            <a:fillRect/>
          </a:stretch>
        </p:blipFill>
        <p:spPr>
          <a:xfrm>
            <a:off x="7040880" y="5074920"/>
            <a:ext cx="365760" cy="365760"/>
          </a:xfrm>
          <a:prstGeom prst="rect">
            <a:avLst/>
          </a:prstGeom>
        </p:spPr>
      </p:pic>
      <p:sp>
        <p:nvSpPr>
          <p:cNvPr id="19" name="Text 13"/>
          <p:cNvSpPr txBox="1"/>
          <p:nvPr/>
        </p:nvSpPr>
        <p:spPr>
          <a:xfrm>
            <a:off x="7863840" y="4873752"/>
            <a:ext cx="3566160" cy="365760"/>
          </a:xfrm>
          <a:prstGeom prst="rect">
            <a:avLst/>
          </a:prstGeom>
          <a:noFill/>
          <a:ln/>
        </p:spPr>
        <p:txBody>
          <a:bodyPr wrap="square" lIns="0" tIns="0" rIns="0" bIns="0" rtlCol="0" anchor="t"/>
          <a:lstStyle/>
          <a:p>
            <a:pPr marL="0" indent="0" algn="l">
              <a:buNone/>
            </a:pPr>
            <a:r>
              <a:rPr lang="en-US" sz="2000" b="1" dirty="0">
                <a:solidFill>
                  <a:schemeClr val="bg1"/>
                </a:solidFill>
              </a:rPr>
              <a:t>File I/O</a:t>
            </a:r>
            <a:endParaRPr lang="en-US" sz="2000" dirty="0"/>
          </a:p>
        </p:txBody>
      </p:sp>
      <p:sp>
        <p:nvSpPr>
          <p:cNvPr id="20" name="Text 14"/>
          <p:cNvSpPr txBox="1"/>
          <p:nvPr/>
        </p:nvSpPr>
        <p:spPr>
          <a:xfrm>
            <a:off x="7863840" y="5257800"/>
            <a:ext cx="3566160" cy="502920"/>
          </a:xfrm>
          <a:prstGeom prst="rect">
            <a:avLst/>
          </a:prstGeom>
          <a:noFill/>
          <a:ln/>
        </p:spPr>
        <p:txBody>
          <a:bodyPr wrap="square" lIns="0" tIns="0" rIns="0" bIns="0" rtlCol="0" anchor="t"/>
          <a:lstStyle/>
          <a:p>
            <a:pPr marL="0" indent="0" algn="l">
              <a:buNone/>
            </a:pPr>
            <a:r>
              <a:rPr lang="en-US" sz="1500" dirty="0">
                <a:solidFill>
                  <a:schemeClr val="accent4"/>
                </a:solidFill>
              </a:rPr>
              <a:t>Write a file, then read 50,000 lines</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Objectives</a:t>
            </a:r>
            <a:endParaRPr lang="en-US" sz="3600" dirty="0"/>
          </a:p>
        </p:txBody>
      </p:sp>
      <p:sp>
        <p:nvSpPr>
          <p:cNvPr id="4" name="Objective card 1"/>
          <p:cNvSpPr/>
          <p:nvPr/>
        </p:nvSpPr>
        <p:spPr>
          <a:xfrm>
            <a:off x="548640" y="1554480"/>
            <a:ext cx="3474720" cy="2103120"/>
          </a:xfrm>
          <a:prstGeom prst="roundRect">
            <a:avLst>
              <a:gd name="adj" fmla="val 5217"/>
            </a:avLst>
          </a:prstGeom>
          <a:solidFill>
            <a:schemeClr val="tx2"/>
          </a:solidFill>
          <a:ln w="12700">
            <a:solidFill>
              <a:schemeClr val="accent5"/>
            </a:solidFill>
            <a:prstDash val="solid"/>
          </a:ln>
        </p:spPr>
      </p:sp>
      <p:sp>
        <p:nvSpPr>
          <p:cNvPr id="5" name="Objective number 1"/>
          <p:cNvSpPr txBox="1"/>
          <p:nvPr/>
        </p:nvSpPr>
        <p:spPr>
          <a:xfrm>
            <a:off x="822960" y="182880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3"/>
          <p:cNvSpPr txBox="1"/>
          <p:nvPr/>
        </p:nvSpPr>
        <p:spPr>
          <a:xfrm>
            <a:off x="822960" y="2560320"/>
            <a:ext cx="2926080" cy="960120"/>
          </a:xfrm>
          <a:prstGeom prst="rect">
            <a:avLst/>
          </a:prstGeom>
          <a:noFill/>
          <a:ln/>
        </p:spPr>
        <p:txBody>
          <a:bodyPr wrap="square" lIns="0" tIns="0" rIns="0" bIns="0" rtlCol="0" anchor="t"/>
          <a:lstStyle/>
          <a:p>
            <a:pPr marL="0" indent="0" algn="l">
              <a:buNone/>
            </a:pPr>
            <a:r>
              <a:rPr lang="en-US" sz="1700" b="1" dirty="0">
                <a:solidFill>
                  <a:schemeClr val="bg1"/>
                </a:solidFill>
              </a:rPr>
              <a:t>Measure the execution time of a CPU calculation</a:t>
            </a:r>
            <a:endParaRPr lang="en-US" sz="1700" dirty="0"/>
          </a:p>
        </p:txBody>
      </p:sp>
      <p:sp>
        <p:nvSpPr>
          <p:cNvPr id="7" name="Objective card 2"/>
          <p:cNvSpPr/>
          <p:nvPr/>
        </p:nvSpPr>
        <p:spPr>
          <a:xfrm>
            <a:off x="4357116" y="1554480"/>
            <a:ext cx="3474720" cy="2103120"/>
          </a:xfrm>
          <a:prstGeom prst="roundRect">
            <a:avLst>
              <a:gd name="adj" fmla="val 5217"/>
            </a:avLst>
          </a:prstGeom>
          <a:solidFill>
            <a:schemeClr val="tx2"/>
          </a:solidFill>
          <a:ln w="12700">
            <a:solidFill>
              <a:schemeClr val="accent5"/>
            </a:solidFill>
            <a:prstDash val="solid"/>
          </a:ln>
        </p:spPr>
      </p:sp>
      <p:sp>
        <p:nvSpPr>
          <p:cNvPr id="8" name="Objective number 2"/>
          <p:cNvSpPr txBox="1"/>
          <p:nvPr/>
        </p:nvSpPr>
        <p:spPr>
          <a:xfrm>
            <a:off x="4631436" y="182880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6"/>
          <p:cNvSpPr txBox="1"/>
          <p:nvPr/>
        </p:nvSpPr>
        <p:spPr>
          <a:xfrm>
            <a:off x="4631436" y="2560320"/>
            <a:ext cx="2926080" cy="960120"/>
          </a:xfrm>
          <a:prstGeom prst="rect">
            <a:avLst/>
          </a:prstGeom>
          <a:noFill/>
          <a:ln/>
        </p:spPr>
        <p:txBody>
          <a:bodyPr wrap="square" lIns="0" tIns="0" rIns="0" bIns="0" rtlCol="0" anchor="t"/>
          <a:lstStyle/>
          <a:p>
            <a:pPr marL="0" indent="0" algn="l">
              <a:buNone/>
            </a:pPr>
            <a:r>
              <a:rPr lang="en-US" sz="1700" b="1" dirty="0">
                <a:solidFill>
                  <a:schemeClr val="bg1"/>
                </a:solidFill>
              </a:rPr>
              <a:t>Measure memory allocation and initialization time</a:t>
            </a:r>
            <a:endParaRPr lang="en-US" sz="1700" dirty="0"/>
          </a:p>
        </p:txBody>
      </p:sp>
      <p:sp>
        <p:nvSpPr>
          <p:cNvPr id="10" name="Objective card 3"/>
          <p:cNvSpPr/>
          <p:nvPr/>
        </p:nvSpPr>
        <p:spPr>
          <a:xfrm>
            <a:off x="8165592" y="1554480"/>
            <a:ext cx="3474720" cy="2103120"/>
          </a:xfrm>
          <a:prstGeom prst="roundRect">
            <a:avLst>
              <a:gd name="adj" fmla="val 5217"/>
            </a:avLst>
          </a:prstGeom>
          <a:solidFill>
            <a:schemeClr val="tx2"/>
          </a:solidFill>
          <a:ln w="12700">
            <a:solidFill>
              <a:schemeClr val="accent5"/>
            </a:solidFill>
            <a:prstDash val="solid"/>
          </a:ln>
        </p:spPr>
      </p:sp>
      <p:sp>
        <p:nvSpPr>
          <p:cNvPr id="11" name="Objective number 3"/>
          <p:cNvSpPr txBox="1"/>
          <p:nvPr/>
        </p:nvSpPr>
        <p:spPr>
          <a:xfrm>
            <a:off x="8439912" y="182880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Text 9"/>
          <p:cNvSpPr txBox="1"/>
          <p:nvPr/>
        </p:nvSpPr>
        <p:spPr>
          <a:xfrm>
            <a:off x="8439912" y="2560320"/>
            <a:ext cx="2926080" cy="960120"/>
          </a:xfrm>
          <a:prstGeom prst="rect">
            <a:avLst/>
          </a:prstGeom>
          <a:noFill/>
          <a:ln/>
        </p:spPr>
        <p:txBody>
          <a:bodyPr wrap="square" lIns="0" tIns="0" rIns="0" bIns="0" rtlCol="0" anchor="t"/>
          <a:lstStyle/>
          <a:p>
            <a:pPr marL="0" indent="0" algn="l">
              <a:buNone/>
            </a:pPr>
            <a:r>
              <a:rPr lang="en-US" sz="1700" b="1" dirty="0">
                <a:solidFill>
                  <a:schemeClr val="bg1"/>
                </a:solidFill>
              </a:rPr>
              <a:t>Measure file I/O time (write and read)</a:t>
            </a:r>
            <a:endParaRPr lang="en-US" sz="1700" dirty="0"/>
          </a:p>
        </p:txBody>
      </p:sp>
      <p:sp>
        <p:nvSpPr>
          <p:cNvPr id="13" name="Objective card 4"/>
          <p:cNvSpPr/>
          <p:nvPr/>
        </p:nvSpPr>
        <p:spPr>
          <a:xfrm>
            <a:off x="548640" y="3931920"/>
            <a:ext cx="3474720" cy="2103120"/>
          </a:xfrm>
          <a:prstGeom prst="roundRect">
            <a:avLst>
              <a:gd name="adj" fmla="val 5217"/>
            </a:avLst>
          </a:prstGeom>
          <a:solidFill>
            <a:schemeClr val="tx2"/>
          </a:solidFill>
          <a:ln w="12700">
            <a:solidFill>
              <a:schemeClr val="accent5"/>
            </a:solidFill>
            <a:prstDash val="solid"/>
          </a:ln>
        </p:spPr>
      </p:sp>
      <p:sp>
        <p:nvSpPr>
          <p:cNvPr id="14" name="Objective number 4"/>
          <p:cNvSpPr txBox="1"/>
          <p:nvPr/>
        </p:nvSpPr>
        <p:spPr>
          <a:xfrm>
            <a:off x="822960" y="420624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5" name="Text 12"/>
          <p:cNvSpPr txBox="1"/>
          <p:nvPr/>
        </p:nvSpPr>
        <p:spPr>
          <a:xfrm>
            <a:off x="822960" y="4937760"/>
            <a:ext cx="2926080" cy="960120"/>
          </a:xfrm>
          <a:prstGeom prst="rect">
            <a:avLst/>
          </a:prstGeom>
          <a:noFill/>
          <a:ln/>
        </p:spPr>
        <p:txBody>
          <a:bodyPr wrap="square" lIns="0" tIns="0" rIns="0" bIns="0" rtlCol="0" anchor="t"/>
          <a:lstStyle/>
          <a:p>
            <a:pPr marL="0" indent="0" algn="l">
              <a:buNone/>
            </a:pPr>
            <a:r>
              <a:rPr lang="en-US" sz="1700" b="1" dirty="0">
                <a:solidFill>
                  <a:schemeClr val="bg1"/>
                </a:solidFill>
              </a:rPr>
              <a:t>Provide a menu-driven interface with individual and combined modes</a:t>
            </a:r>
            <a:endParaRPr lang="en-US" sz="1700" dirty="0"/>
          </a:p>
        </p:txBody>
      </p:sp>
      <p:sp>
        <p:nvSpPr>
          <p:cNvPr id="16" name="Objective card 5"/>
          <p:cNvSpPr/>
          <p:nvPr/>
        </p:nvSpPr>
        <p:spPr>
          <a:xfrm>
            <a:off x="4357116" y="3931920"/>
            <a:ext cx="3474720" cy="2103120"/>
          </a:xfrm>
          <a:prstGeom prst="roundRect">
            <a:avLst>
              <a:gd name="adj" fmla="val 5217"/>
            </a:avLst>
          </a:prstGeom>
          <a:solidFill>
            <a:schemeClr val="tx2"/>
          </a:solidFill>
          <a:ln w="12700">
            <a:solidFill>
              <a:schemeClr val="accent5"/>
            </a:solidFill>
            <a:prstDash val="solid"/>
          </a:ln>
        </p:spPr>
      </p:sp>
      <p:sp>
        <p:nvSpPr>
          <p:cNvPr id="17" name="Objective number 5"/>
          <p:cNvSpPr txBox="1"/>
          <p:nvPr/>
        </p:nvSpPr>
        <p:spPr>
          <a:xfrm>
            <a:off x="4631436" y="420624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8" name="Text 15"/>
          <p:cNvSpPr txBox="1"/>
          <p:nvPr/>
        </p:nvSpPr>
        <p:spPr>
          <a:xfrm>
            <a:off x="4631436" y="4937760"/>
            <a:ext cx="2926080" cy="960120"/>
          </a:xfrm>
          <a:prstGeom prst="rect">
            <a:avLst/>
          </a:prstGeom>
          <a:noFill/>
          <a:ln/>
        </p:spPr>
        <p:txBody>
          <a:bodyPr wrap="square" lIns="0" tIns="0" rIns="0" bIns="0" rtlCol="0" anchor="t"/>
          <a:lstStyle/>
          <a:p>
            <a:pPr marL="0" indent="0" algn="l">
              <a:buNone/>
            </a:pPr>
            <a:r>
              <a:rPr lang="en-US" sz="1700" b="1" dirty="0">
                <a:solidFill>
                  <a:schemeClr val="bg1"/>
                </a:solidFill>
              </a:rPr>
              <a:t>Run three rounds, calculate averages and save results to CSV</a:t>
            </a:r>
            <a:endParaRPr lang="en-US" sz="1700" dirty="0"/>
          </a:p>
        </p:txBody>
      </p:sp>
      <p:sp>
        <p:nvSpPr>
          <p:cNvPr id="19" name="Objective card 6"/>
          <p:cNvSpPr/>
          <p:nvPr/>
        </p:nvSpPr>
        <p:spPr>
          <a:xfrm>
            <a:off x="8165592" y="3931920"/>
            <a:ext cx="3474720" cy="2103120"/>
          </a:xfrm>
          <a:prstGeom prst="roundRect">
            <a:avLst>
              <a:gd name="adj" fmla="val 5217"/>
            </a:avLst>
          </a:prstGeom>
          <a:solidFill>
            <a:schemeClr val="tx2"/>
          </a:solidFill>
          <a:ln w="12700">
            <a:solidFill>
              <a:schemeClr val="accent5"/>
            </a:solidFill>
            <a:prstDash val="solid"/>
          </a:ln>
        </p:spPr>
      </p:sp>
      <p:sp>
        <p:nvSpPr>
          <p:cNvPr id="20" name="Objective number 6"/>
          <p:cNvSpPr txBox="1"/>
          <p:nvPr/>
        </p:nvSpPr>
        <p:spPr>
          <a:xfrm>
            <a:off x="8439912" y="420624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1" name="Text 18"/>
          <p:cNvSpPr txBox="1"/>
          <p:nvPr/>
        </p:nvSpPr>
        <p:spPr>
          <a:xfrm>
            <a:off x="8439912" y="4937760"/>
            <a:ext cx="2926080" cy="960120"/>
          </a:xfrm>
          <a:prstGeom prst="rect">
            <a:avLst/>
          </a:prstGeom>
          <a:noFill/>
          <a:ln/>
        </p:spPr>
        <p:txBody>
          <a:bodyPr wrap="square" lIns="0" tIns="0" rIns="0" bIns="0" rtlCol="0" anchor="t"/>
          <a:lstStyle/>
          <a:p>
            <a:pPr marL="0" indent="0" algn="l">
              <a:buNone/>
            </a:pPr>
            <a:r>
              <a:rPr lang="en-US" sz="1700" b="1" dirty="0">
                <a:solidFill>
                  <a:schemeClr val="bg1"/>
                </a:solidFill>
              </a:rPr>
              <a:t>Use Git and publish the project on GitHub</a:t>
            </a:r>
            <a:endParaRPr lang="en-US" sz="17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Technology Stack and Requirements</a:t>
            </a:r>
            <a:endParaRPr lang="en-US" sz="3600" dirty="0"/>
          </a:p>
        </p:txBody>
      </p:sp>
      <p:sp>
        <p:nvSpPr>
          <p:cNvPr id="4" name="Tech card: Language"/>
          <p:cNvSpPr/>
          <p:nvPr/>
        </p:nvSpPr>
        <p:spPr>
          <a:xfrm>
            <a:off x="548640" y="1463040"/>
            <a:ext cx="1984248" cy="2011680"/>
          </a:xfrm>
          <a:prstGeom prst="roundRect">
            <a:avLst>
              <a:gd name="adj" fmla="val 5530"/>
            </a:avLst>
          </a:prstGeom>
          <a:solidFill>
            <a:schemeClr val="tx2"/>
          </a:solidFill>
          <a:ln w="12700">
            <a:solidFill>
              <a:schemeClr val="accent5"/>
            </a:solidFill>
            <a:prstDash val="solid"/>
          </a:ln>
        </p:spPr>
      </p:sp>
      <p:sp>
        <p:nvSpPr>
          <p:cNvPr id="5" name="Language icon"/>
          <p:cNvSpPr/>
          <p:nvPr/>
        </p:nvSpPr>
        <p:spPr>
          <a:xfrm>
            <a:off x="822960" y="1691640"/>
            <a:ext cx="548640" cy="548640"/>
          </a:xfrm>
          <a:prstGeom prst="ellipse">
            <a:avLst/>
          </a:prstGeom>
          <a:solidFill>
            <a:schemeClr val="accent1"/>
          </a:solidFill>
          <a:ln w="12700">
            <a:solidFill>
              <a:schemeClr val="accent1"/>
            </a:solidFill>
            <a:prstDash val="solid"/>
          </a:ln>
        </p:spPr>
      </p:sp>
      <p:pic>
        <p:nvPicPr>
          <p:cNvPr id="6" name="Image 0" descr="Language icon icon"/>
          <p:cNvPicPr>
            <a:picLocks noChangeAspect="1"/>
          </p:cNvPicPr>
          <p:nvPr/>
        </p:nvPicPr>
        <p:blipFill>
          <a:blip r:embed="rId3"/>
          <a:stretch>
            <a:fillRect/>
          </a:stretch>
        </p:blipFill>
        <p:spPr>
          <a:xfrm>
            <a:off x="960120" y="1828800"/>
            <a:ext cx="274320" cy="274320"/>
          </a:xfrm>
          <a:prstGeom prst="rect">
            <a:avLst/>
          </a:prstGeom>
        </p:spPr>
      </p:pic>
      <p:sp>
        <p:nvSpPr>
          <p:cNvPr id="7" name="Text 3"/>
          <p:cNvSpPr txBox="1"/>
          <p:nvPr/>
        </p:nvSpPr>
        <p:spPr>
          <a:xfrm>
            <a:off x="822960" y="2377440"/>
            <a:ext cx="1554480" cy="274320"/>
          </a:xfrm>
          <a:prstGeom prst="rect">
            <a:avLst/>
          </a:prstGeom>
          <a:noFill/>
          <a:ln/>
        </p:spPr>
        <p:txBody>
          <a:bodyPr wrap="square" lIns="0" tIns="0" rIns="0" bIns="0" rtlCol="0" anchor="t"/>
          <a:lstStyle/>
          <a:p>
            <a:pPr marL="0" indent="0" algn="l">
              <a:buNone/>
            </a:pPr>
            <a:r>
              <a:rPr lang="en-US" sz="1200" dirty="0">
                <a:solidFill>
                  <a:schemeClr val="accent4"/>
                </a:solidFill>
              </a:rPr>
              <a:t>Language</a:t>
            </a:r>
            <a:endParaRPr lang="en-US" sz="1200" dirty="0"/>
          </a:p>
        </p:txBody>
      </p:sp>
      <p:sp>
        <p:nvSpPr>
          <p:cNvPr id="8" name="Text 4"/>
          <p:cNvSpPr txBox="1"/>
          <p:nvPr/>
        </p:nvSpPr>
        <p:spPr>
          <a:xfrm>
            <a:off x="822960" y="2651760"/>
            <a:ext cx="1554480" cy="594360"/>
          </a:xfrm>
          <a:prstGeom prst="rect">
            <a:avLst/>
          </a:prstGeom>
          <a:noFill/>
          <a:ln/>
        </p:spPr>
        <p:txBody>
          <a:bodyPr wrap="square" lIns="0" tIns="0" rIns="0" bIns="0" rtlCol="0" anchor="t"/>
          <a:lstStyle/>
          <a:p>
            <a:pPr marL="0" indent="0" algn="l">
              <a:buNone/>
            </a:pPr>
            <a:r>
              <a:rPr lang="en-US" sz="1500" b="1" dirty="0">
                <a:solidFill>
                  <a:schemeClr val="bg1"/>
                </a:solidFill>
              </a:rPr>
              <a:t>C (C11 standard)</a:t>
            </a:r>
            <a:endParaRPr lang="en-US" sz="1500" dirty="0"/>
          </a:p>
        </p:txBody>
      </p:sp>
      <p:sp>
        <p:nvSpPr>
          <p:cNvPr id="9" name="Tech card: Compiler"/>
          <p:cNvSpPr/>
          <p:nvPr/>
        </p:nvSpPr>
        <p:spPr>
          <a:xfrm>
            <a:off x="2825496" y="1463040"/>
            <a:ext cx="1984248" cy="2011680"/>
          </a:xfrm>
          <a:prstGeom prst="roundRect">
            <a:avLst>
              <a:gd name="adj" fmla="val 5530"/>
            </a:avLst>
          </a:prstGeom>
          <a:solidFill>
            <a:schemeClr val="tx2"/>
          </a:solidFill>
          <a:ln w="12700">
            <a:solidFill>
              <a:schemeClr val="accent5"/>
            </a:solidFill>
            <a:prstDash val="solid"/>
          </a:ln>
        </p:spPr>
      </p:sp>
      <p:sp>
        <p:nvSpPr>
          <p:cNvPr id="10" name="Compiler icon"/>
          <p:cNvSpPr/>
          <p:nvPr/>
        </p:nvSpPr>
        <p:spPr>
          <a:xfrm>
            <a:off x="3099816" y="1691640"/>
            <a:ext cx="548640" cy="548640"/>
          </a:xfrm>
          <a:prstGeom prst="ellipse">
            <a:avLst/>
          </a:prstGeom>
          <a:solidFill>
            <a:schemeClr val="accent1"/>
          </a:solidFill>
          <a:ln w="12700">
            <a:solidFill>
              <a:schemeClr val="accent1"/>
            </a:solidFill>
            <a:prstDash val="solid"/>
          </a:ln>
        </p:spPr>
      </p:sp>
      <p:pic>
        <p:nvPicPr>
          <p:cNvPr id="11" name="Image 1" descr="Compiler icon icon"/>
          <p:cNvPicPr>
            <a:picLocks noChangeAspect="1"/>
          </p:cNvPicPr>
          <p:nvPr/>
        </p:nvPicPr>
        <p:blipFill>
          <a:blip r:embed="rId4"/>
          <a:stretch>
            <a:fillRect/>
          </a:stretch>
        </p:blipFill>
        <p:spPr>
          <a:xfrm>
            <a:off x="3236976" y="1828800"/>
            <a:ext cx="274320" cy="274320"/>
          </a:xfrm>
          <a:prstGeom prst="rect">
            <a:avLst/>
          </a:prstGeom>
        </p:spPr>
      </p:pic>
      <p:sp>
        <p:nvSpPr>
          <p:cNvPr id="12" name="Text 7"/>
          <p:cNvSpPr txBox="1"/>
          <p:nvPr/>
        </p:nvSpPr>
        <p:spPr>
          <a:xfrm>
            <a:off x="3099816" y="2377440"/>
            <a:ext cx="1554480" cy="274320"/>
          </a:xfrm>
          <a:prstGeom prst="rect">
            <a:avLst/>
          </a:prstGeom>
          <a:noFill/>
          <a:ln/>
        </p:spPr>
        <p:txBody>
          <a:bodyPr wrap="square" lIns="0" tIns="0" rIns="0" bIns="0" rtlCol="0" anchor="t"/>
          <a:lstStyle/>
          <a:p>
            <a:pPr marL="0" indent="0" algn="l">
              <a:buNone/>
            </a:pPr>
            <a:r>
              <a:rPr lang="en-US" sz="1200" dirty="0">
                <a:solidFill>
                  <a:schemeClr val="accent4"/>
                </a:solidFill>
              </a:rPr>
              <a:t>Compiler</a:t>
            </a:r>
            <a:endParaRPr lang="en-US" sz="1200" dirty="0"/>
          </a:p>
        </p:txBody>
      </p:sp>
      <p:sp>
        <p:nvSpPr>
          <p:cNvPr id="13" name="Text 8"/>
          <p:cNvSpPr txBox="1"/>
          <p:nvPr/>
        </p:nvSpPr>
        <p:spPr>
          <a:xfrm>
            <a:off x="3099816" y="2651760"/>
            <a:ext cx="1554480" cy="594360"/>
          </a:xfrm>
          <a:prstGeom prst="rect">
            <a:avLst/>
          </a:prstGeom>
          <a:noFill/>
          <a:ln/>
        </p:spPr>
        <p:txBody>
          <a:bodyPr wrap="square" lIns="0" tIns="0" rIns="0" bIns="0" rtlCol="0" anchor="t"/>
          <a:lstStyle/>
          <a:p>
            <a:pPr marL="0" indent="0" algn="l">
              <a:buNone/>
            </a:pPr>
            <a:r>
              <a:rPr lang="en-US" sz="1500" b="1" dirty="0">
                <a:solidFill>
                  <a:schemeClr val="bg1"/>
                </a:solidFill>
              </a:rPr>
              <a:t>GCC 13.3.0</a:t>
            </a:r>
            <a:endParaRPr lang="en-US" sz="1500" dirty="0"/>
          </a:p>
        </p:txBody>
      </p:sp>
      <p:sp>
        <p:nvSpPr>
          <p:cNvPr id="14" name="Tech card: Operating system"/>
          <p:cNvSpPr/>
          <p:nvPr/>
        </p:nvSpPr>
        <p:spPr>
          <a:xfrm>
            <a:off x="5102352" y="1463040"/>
            <a:ext cx="1984248" cy="2011680"/>
          </a:xfrm>
          <a:prstGeom prst="roundRect">
            <a:avLst>
              <a:gd name="adj" fmla="val 5530"/>
            </a:avLst>
          </a:prstGeom>
          <a:solidFill>
            <a:schemeClr val="tx2"/>
          </a:solidFill>
          <a:ln w="12700">
            <a:solidFill>
              <a:schemeClr val="accent5"/>
            </a:solidFill>
            <a:prstDash val="solid"/>
          </a:ln>
        </p:spPr>
      </p:sp>
      <p:sp>
        <p:nvSpPr>
          <p:cNvPr id="15" name="Operating system icon"/>
          <p:cNvSpPr/>
          <p:nvPr/>
        </p:nvSpPr>
        <p:spPr>
          <a:xfrm>
            <a:off x="5376672" y="1691640"/>
            <a:ext cx="548640" cy="548640"/>
          </a:xfrm>
          <a:prstGeom prst="ellipse">
            <a:avLst/>
          </a:prstGeom>
          <a:solidFill>
            <a:schemeClr val="accent1"/>
          </a:solidFill>
          <a:ln w="12700">
            <a:solidFill>
              <a:schemeClr val="accent1"/>
            </a:solidFill>
            <a:prstDash val="solid"/>
          </a:ln>
        </p:spPr>
      </p:sp>
      <p:pic>
        <p:nvPicPr>
          <p:cNvPr id="16" name="Image 2" descr="Operating system icon icon"/>
          <p:cNvPicPr>
            <a:picLocks noChangeAspect="1"/>
          </p:cNvPicPr>
          <p:nvPr/>
        </p:nvPicPr>
        <p:blipFill>
          <a:blip r:embed="rId5"/>
          <a:stretch>
            <a:fillRect/>
          </a:stretch>
        </p:blipFill>
        <p:spPr>
          <a:xfrm>
            <a:off x="5513832" y="1828800"/>
            <a:ext cx="274320" cy="274320"/>
          </a:xfrm>
          <a:prstGeom prst="rect">
            <a:avLst/>
          </a:prstGeom>
        </p:spPr>
      </p:pic>
      <p:sp>
        <p:nvSpPr>
          <p:cNvPr id="17" name="Text 11"/>
          <p:cNvSpPr txBox="1"/>
          <p:nvPr/>
        </p:nvSpPr>
        <p:spPr>
          <a:xfrm>
            <a:off x="5376672" y="2377440"/>
            <a:ext cx="1554480" cy="274320"/>
          </a:xfrm>
          <a:prstGeom prst="rect">
            <a:avLst/>
          </a:prstGeom>
          <a:noFill/>
          <a:ln/>
        </p:spPr>
        <p:txBody>
          <a:bodyPr wrap="square" lIns="0" tIns="0" rIns="0" bIns="0" rtlCol="0" anchor="t"/>
          <a:lstStyle/>
          <a:p>
            <a:pPr marL="0" indent="0" algn="l">
              <a:buNone/>
            </a:pPr>
            <a:r>
              <a:rPr lang="en-US" sz="1200" dirty="0">
                <a:solidFill>
                  <a:schemeClr val="accent4"/>
                </a:solidFill>
              </a:rPr>
              <a:t>Operating system</a:t>
            </a:r>
            <a:endParaRPr lang="en-US" sz="1200" dirty="0"/>
          </a:p>
        </p:txBody>
      </p:sp>
      <p:sp>
        <p:nvSpPr>
          <p:cNvPr id="18" name="Text 12"/>
          <p:cNvSpPr txBox="1"/>
          <p:nvPr/>
        </p:nvSpPr>
        <p:spPr>
          <a:xfrm>
            <a:off x="5376672" y="2651760"/>
            <a:ext cx="1554480" cy="594360"/>
          </a:xfrm>
          <a:prstGeom prst="rect">
            <a:avLst/>
          </a:prstGeom>
          <a:noFill/>
          <a:ln/>
        </p:spPr>
        <p:txBody>
          <a:bodyPr wrap="square" lIns="0" tIns="0" rIns="0" bIns="0" rtlCol="0" anchor="t"/>
          <a:lstStyle/>
          <a:p>
            <a:pPr marL="0" indent="0" algn="l">
              <a:buNone/>
            </a:pPr>
            <a:r>
              <a:rPr lang="en-US" sz="1500" b="1" dirty="0">
                <a:solidFill>
                  <a:schemeClr val="bg1"/>
                </a:solidFill>
              </a:rPr>
              <a:t>Ubuntu 24.04.4 LTS</a:t>
            </a:r>
            <a:endParaRPr lang="en-US" sz="1500" dirty="0"/>
          </a:p>
        </p:txBody>
      </p:sp>
      <p:sp>
        <p:nvSpPr>
          <p:cNvPr id="19" name="Tech card: Environment"/>
          <p:cNvSpPr/>
          <p:nvPr/>
        </p:nvSpPr>
        <p:spPr>
          <a:xfrm>
            <a:off x="7379208" y="1463040"/>
            <a:ext cx="1984248" cy="2011680"/>
          </a:xfrm>
          <a:prstGeom prst="roundRect">
            <a:avLst>
              <a:gd name="adj" fmla="val 5530"/>
            </a:avLst>
          </a:prstGeom>
          <a:solidFill>
            <a:schemeClr val="tx2"/>
          </a:solidFill>
          <a:ln w="12700">
            <a:solidFill>
              <a:schemeClr val="accent5"/>
            </a:solidFill>
            <a:prstDash val="solid"/>
          </a:ln>
        </p:spPr>
      </p:sp>
      <p:sp>
        <p:nvSpPr>
          <p:cNvPr id="20" name="Environment icon"/>
          <p:cNvSpPr/>
          <p:nvPr/>
        </p:nvSpPr>
        <p:spPr>
          <a:xfrm>
            <a:off x="7653528" y="1691640"/>
            <a:ext cx="548640" cy="548640"/>
          </a:xfrm>
          <a:prstGeom prst="ellipse">
            <a:avLst/>
          </a:prstGeom>
          <a:solidFill>
            <a:schemeClr val="accent1"/>
          </a:solidFill>
          <a:ln w="12700">
            <a:solidFill>
              <a:schemeClr val="accent1"/>
            </a:solidFill>
            <a:prstDash val="solid"/>
          </a:ln>
        </p:spPr>
      </p:sp>
      <p:pic>
        <p:nvPicPr>
          <p:cNvPr id="21" name="Image 3" descr="Environment icon icon"/>
          <p:cNvPicPr>
            <a:picLocks noChangeAspect="1"/>
          </p:cNvPicPr>
          <p:nvPr/>
        </p:nvPicPr>
        <p:blipFill>
          <a:blip r:embed="rId6"/>
          <a:stretch>
            <a:fillRect/>
          </a:stretch>
        </p:blipFill>
        <p:spPr>
          <a:xfrm>
            <a:off x="7790688" y="1828800"/>
            <a:ext cx="274320" cy="274320"/>
          </a:xfrm>
          <a:prstGeom prst="rect">
            <a:avLst/>
          </a:prstGeom>
        </p:spPr>
      </p:pic>
      <p:sp>
        <p:nvSpPr>
          <p:cNvPr id="22" name="Text 15"/>
          <p:cNvSpPr txBox="1"/>
          <p:nvPr/>
        </p:nvSpPr>
        <p:spPr>
          <a:xfrm>
            <a:off x="7653528" y="2377440"/>
            <a:ext cx="1554480" cy="274320"/>
          </a:xfrm>
          <a:prstGeom prst="rect">
            <a:avLst/>
          </a:prstGeom>
          <a:noFill/>
          <a:ln/>
        </p:spPr>
        <p:txBody>
          <a:bodyPr wrap="square" lIns="0" tIns="0" rIns="0" bIns="0" rtlCol="0" anchor="t"/>
          <a:lstStyle/>
          <a:p>
            <a:pPr marL="0" indent="0" algn="l">
              <a:buNone/>
            </a:pPr>
            <a:r>
              <a:rPr lang="en-US" sz="1200" dirty="0">
                <a:solidFill>
                  <a:schemeClr val="accent4"/>
                </a:solidFill>
              </a:rPr>
              <a:t>Environment</a:t>
            </a:r>
            <a:endParaRPr lang="en-US" sz="1200" dirty="0"/>
          </a:p>
        </p:txBody>
      </p:sp>
      <p:sp>
        <p:nvSpPr>
          <p:cNvPr id="23" name="Text 16"/>
          <p:cNvSpPr txBox="1"/>
          <p:nvPr/>
        </p:nvSpPr>
        <p:spPr>
          <a:xfrm>
            <a:off x="7653528" y="2651760"/>
            <a:ext cx="1554480" cy="594360"/>
          </a:xfrm>
          <a:prstGeom prst="rect">
            <a:avLst/>
          </a:prstGeom>
          <a:noFill/>
          <a:ln/>
        </p:spPr>
        <p:txBody>
          <a:bodyPr wrap="square" lIns="0" tIns="0" rIns="0" bIns="0" rtlCol="0" anchor="t"/>
          <a:lstStyle/>
          <a:p>
            <a:pPr marL="0" indent="0" algn="l">
              <a:buNone/>
            </a:pPr>
            <a:r>
              <a:rPr lang="en-US" sz="1500" b="1" dirty="0">
                <a:solidFill>
                  <a:schemeClr val="bg1"/>
                </a:solidFill>
              </a:rPr>
              <a:t>WSL2 (Windows Subsystem for Linux)</a:t>
            </a:r>
            <a:endParaRPr lang="en-US" sz="1500" dirty="0"/>
          </a:p>
        </p:txBody>
      </p:sp>
      <p:sp>
        <p:nvSpPr>
          <p:cNvPr id="24" name="Tech card: Version control"/>
          <p:cNvSpPr/>
          <p:nvPr/>
        </p:nvSpPr>
        <p:spPr>
          <a:xfrm>
            <a:off x="9656064" y="1463040"/>
            <a:ext cx="1984248" cy="2011680"/>
          </a:xfrm>
          <a:prstGeom prst="roundRect">
            <a:avLst>
              <a:gd name="adj" fmla="val 5530"/>
            </a:avLst>
          </a:prstGeom>
          <a:solidFill>
            <a:schemeClr val="tx2"/>
          </a:solidFill>
          <a:ln w="12700">
            <a:solidFill>
              <a:schemeClr val="accent5"/>
            </a:solidFill>
            <a:prstDash val="solid"/>
          </a:ln>
        </p:spPr>
      </p:sp>
      <p:sp>
        <p:nvSpPr>
          <p:cNvPr id="25" name="Version control icon"/>
          <p:cNvSpPr/>
          <p:nvPr/>
        </p:nvSpPr>
        <p:spPr>
          <a:xfrm>
            <a:off x="9930384" y="1691640"/>
            <a:ext cx="548640" cy="548640"/>
          </a:xfrm>
          <a:prstGeom prst="ellipse">
            <a:avLst/>
          </a:prstGeom>
          <a:solidFill>
            <a:schemeClr val="accent1"/>
          </a:solidFill>
          <a:ln w="12700">
            <a:solidFill>
              <a:schemeClr val="accent1"/>
            </a:solidFill>
            <a:prstDash val="solid"/>
          </a:ln>
        </p:spPr>
      </p:sp>
      <p:pic>
        <p:nvPicPr>
          <p:cNvPr id="26" name="Image 4" descr="Version control icon icon"/>
          <p:cNvPicPr>
            <a:picLocks noChangeAspect="1"/>
          </p:cNvPicPr>
          <p:nvPr/>
        </p:nvPicPr>
        <p:blipFill>
          <a:blip r:embed="rId7"/>
          <a:stretch>
            <a:fillRect/>
          </a:stretch>
        </p:blipFill>
        <p:spPr>
          <a:xfrm>
            <a:off x="10067544" y="1828800"/>
            <a:ext cx="274320" cy="274320"/>
          </a:xfrm>
          <a:prstGeom prst="rect">
            <a:avLst/>
          </a:prstGeom>
        </p:spPr>
      </p:pic>
      <p:sp>
        <p:nvSpPr>
          <p:cNvPr id="27" name="Text 19"/>
          <p:cNvSpPr txBox="1"/>
          <p:nvPr/>
        </p:nvSpPr>
        <p:spPr>
          <a:xfrm>
            <a:off x="9930384" y="2377440"/>
            <a:ext cx="1554480" cy="274320"/>
          </a:xfrm>
          <a:prstGeom prst="rect">
            <a:avLst/>
          </a:prstGeom>
          <a:noFill/>
          <a:ln/>
        </p:spPr>
        <p:txBody>
          <a:bodyPr wrap="square" lIns="0" tIns="0" rIns="0" bIns="0" rtlCol="0" anchor="t"/>
          <a:lstStyle/>
          <a:p>
            <a:pPr marL="0" indent="0" algn="l">
              <a:buNone/>
            </a:pPr>
            <a:r>
              <a:rPr lang="en-US" sz="1200" dirty="0">
                <a:solidFill>
                  <a:schemeClr val="accent4"/>
                </a:solidFill>
              </a:rPr>
              <a:t>Version control</a:t>
            </a:r>
            <a:endParaRPr lang="en-US" sz="1200" dirty="0"/>
          </a:p>
        </p:txBody>
      </p:sp>
      <p:sp>
        <p:nvSpPr>
          <p:cNvPr id="28" name="Text 20"/>
          <p:cNvSpPr txBox="1"/>
          <p:nvPr/>
        </p:nvSpPr>
        <p:spPr>
          <a:xfrm>
            <a:off x="9930384" y="2651760"/>
            <a:ext cx="1554480" cy="594360"/>
          </a:xfrm>
          <a:prstGeom prst="rect">
            <a:avLst/>
          </a:prstGeom>
          <a:noFill/>
          <a:ln/>
        </p:spPr>
        <p:txBody>
          <a:bodyPr wrap="square" lIns="0" tIns="0" rIns="0" bIns="0" rtlCol="0" anchor="t"/>
          <a:lstStyle/>
          <a:p>
            <a:pPr marL="0" indent="0" algn="l">
              <a:buNone/>
            </a:pPr>
            <a:r>
              <a:rPr lang="en-US" sz="1500" b="1" dirty="0">
                <a:solidFill>
                  <a:schemeClr val="bg1"/>
                </a:solidFill>
              </a:rPr>
              <a:t>Git and GitHub</a:t>
            </a:r>
            <a:endParaRPr lang="en-US" sz="1500" dirty="0"/>
          </a:p>
        </p:txBody>
      </p:sp>
      <p:sp>
        <p:nvSpPr>
          <p:cNvPr id="29" name="Software requirements card"/>
          <p:cNvSpPr/>
          <p:nvPr/>
        </p:nvSpPr>
        <p:spPr>
          <a:xfrm>
            <a:off x="548640" y="3703320"/>
            <a:ext cx="5394960" cy="2423160"/>
          </a:xfrm>
          <a:prstGeom prst="roundRect">
            <a:avLst>
              <a:gd name="adj" fmla="val 4528"/>
            </a:avLst>
          </a:prstGeom>
          <a:solidFill>
            <a:schemeClr val="tx2"/>
          </a:solidFill>
          <a:ln w="12700">
            <a:solidFill>
              <a:schemeClr val="accent5"/>
            </a:solidFill>
            <a:prstDash val="solid"/>
          </a:ln>
        </p:spPr>
      </p:sp>
      <p:sp>
        <p:nvSpPr>
          <p:cNvPr id="30" name="Text 22"/>
          <p:cNvSpPr txBox="1"/>
          <p:nvPr/>
        </p:nvSpPr>
        <p:spPr>
          <a:xfrm>
            <a:off x="822960" y="3886200"/>
            <a:ext cx="4846320" cy="365760"/>
          </a:xfrm>
          <a:prstGeom prst="rect">
            <a:avLst/>
          </a:prstGeom>
          <a:noFill/>
          <a:ln/>
        </p:spPr>
        <p:txBody>
          <a:bodyPr wrap="square" lIns="0" tIns="0" rIns="0" bIns="0" rtlCol="0" anchor="t"/>
          <a:lstStyle/>
          <a:p>
            <a:pPr marL="0" indent="0" algn="l">
              <a:buNone/>
            </a:pPr>
            <a:r>
              <a:rPr lang="en-US" sz="1800" b="1" dirty="0">
                <a:solidFill>
                  <a:schemeClr val="accent2"/>
                </a:solidFill>
              </a:rPr>
              <a:t>Software requirements</a:t>
            </a:r>
            <a:endParaRPr lang="en-US" sz="1800" dirty="0"/>
          </a:p>
        </p:txBody>
      </p:sp>
      <p:sp>
        <p:nvSpPr>
          <p:cNvPr id="31" name="Text 23"/>
          <p:cNvSpPr txBox="1"/>
          <p:nvPr/>
        </p:nvSpPr>
        <p:spPr>
          <a:xfrm>
            <a:off x="822960" y="4389120"/>
            <a:ext cx="4846320" cy="1645920"/>
          </a:xfrm>
          <a:prstGeom prst="rect">
            <a:avLst/>
          </a:prstGeom>
          <a:noFill/>
          <a:ln/>
        </p:spPr>
        <p:txBody>
          <a:bodyPr wrap="square" lIns="0" tIns="0" rIns="0" bIns="0" rtlCol="0" anchor="t"/>
          <a:lstStyle/>
          <a:p>
            <a:pPr marL="342900" indent="-342900" algn="l">
              <a:spcAft>
                <a:spcPts val="600"/>
              </a:spcAft>
              <a:buSzPct val="100000"/>
              <a:buChar char="•"/>
            </a:pPr>
            <a:r>
              <a:rPr lang="en-US" sz="1500" dirty="0">
                <a:solidFill>
                  <a:schemeClr val="bg1"/>
                </a:solidFill>
              </a:rPr>
              <a:t>GCC 13.3.0 (C11 support)</a:t>
            </a:r>
            <a:endParaRPr lang="en-US" sz="1600" dirty="0"/>
          </a:p>
          <a:p>
            <a:pPr marL="342900" indent="-342900" algn="l">
              <a:spcAft>
                <a:spcPts val="600"/>
              </a:spcAft>
              <a:buSzPct val="100000"/>
              <a:buChar char="•"/>
            </a:pPr>
            <a:r>
              <a:rPr lang="en-US" sz="1500" dirty="0">
                <a:solidFill>
                  <a:schemeClr val="bg1"/>
                </a:solidFill>
              </a:rPr>
              <a:t>Ubuntu 24.04.4 LTS running on WSL2</a:t>
            </a:r>
            <a:endParaRPr lang="en-US" sz="1600" dirty="0"/>
          </a:p>
          <a:p>
            <a:pPr marL="342900" indent="-342900" algn="l">
              <a:spcAft>
                <a:spcPts val="600"/>
              </a:spcAft>
              <a:buSzPct val="100000"/>
              <a:buChar char="•"/>
            </a:pPr>
            <a:r>
              <a:rPr lang="en-US" sz="1500" dirty="0">
                <a:solidFill>
                  <a:schemeClr val="bg1"/>
                </a:solidFill>
              </a:rPr>
              <a:t>Git for version control</a:t>
            </a:r>
            <a:endParaRPr lang="en-US" sz="1600" dirty="0"/>
          </a:p>
          <a:p>
            <a:pPr marL="342900" indent="-342900" algn="l">
              <a:spcAft>
                <a:spcPts val="600"/>
              </a:spcAft>
              <a:buSzPct val="100000"/>
              <a:buChar char="•"/>
            </a:pPr>
            <a:r>
              <a:rPr lang="en-US" sz="1500" dirty="0">
                <a:solidFill>
                  <a:schemeClr val="bg1"/>
                </a:solidFill>
              </a:rPr>
              <a:t>Terminal to compile and run</a:t>
            </a:r>
            <a:endParaRPr lang="en-US" sz="1600" dirty="0"/>
          </a:p>
        </p:txBody>
      </p:sp>
      <p:sp>
        <p:nvSpPr>
          <p:cNvPr id="32" name="Hardware requirements card"/>
          <p:cNvSpPr/>
          <p:nvPr/>
        </p:nvSpPr>
        <p:spPr>
          <a:xfrm>
            <a:off x="6245352" y="3703320"/>
            <a:ext cx="5394960" cy="2423160"/>
          </a:xfrm>
          <a:prstGeom prst="roundRect">
            <a:avLst>
              <a:gd name="adj" fmla="val 4528"/>
            </a:avLst>
          </a:prstGeom>
          <a:solidFill>
            <a:schemeClr val="tx2"/>
          </a:solidFill>
          <a:ln w="12700">
            <a:solidFill>
              <a:schemeClr val="accent5"/>
            </a:solidFill>
            <a:prstDash val="solid"/>
          </a:ln>
        </p:spPr>
      </p:sp>
      <p:sp>
        <p:nvSpPr>
          <p:cNvPr id="33" name="Text 25"/>
          <p:cNvSpPr txBox="1"/>
          <p:nvPr/>
        </p:nvSpPr>
        <p:spPr>
          <a:xfrm>
            <a:off x="6519672" y="3886200"/>
            <a:ext cx="4846320" cy="365760"/>
          </a:xfrm>
          <a:prstGeom prst="rect">
            <a:avLst/>
          </a:prstGeom>
          <a:noFill/>
          <a:ln/>
        </p:spPr>
        <p:txBody>
          <a:bodyPr wrap="square" lIns="0" tIns="0" rIns="0" bIns="0" rtlCol="0" anchor="t"/>
          <a:lstStyle/>
          <a:p>
            <a:pPr marL="0" indent="0" algn="l">
              <a:buNone/>
            </a:pPr>
            <a:r>
              <a:rPr lang="en-US" sz="1800" b="1" dirty="0">
                <a:solidFill>
                  <a:schemeClr val="accent2"/>
                </a:solidFill>
              </a:rPr>
              <a:t>Hardware requirements</a:t>
            </a:r>
            <a:endParaRPr lang="en-US" sz="1800" dirty="0"/>
          </a:p>
        </p:txBody>
      </p:sp>
      <p:sp>
        <p:nvSpPr>
          <p:cNvPr id="34" name="Text 26"/>
          <p:cNvSpPr txBox="1"/>
          <p:nvPr/>
        </p:nvSpPr>
        <p:spPr>
          <a:xfrm>
            <a:off x="6519672" y="4389120"/>
            <a:ext cx="4846320" cy="1645920"/>
          </a:xfrm>
          <a:prstGeom prst="rect">
            <a:avLst/>
          </a:prstGeom>
          <a:noFill/>
          <a:ln/>
        </p:spPr>
        <p:txBody>
          <a:bodyPr wrap="square" lIns="0" tIns="0" rIns="0" bIns="0" rtlCol="0" anchor="t"/>
          <a:lstStyle/>
          <a:p>
            <a:pPr marL="342900" indent="-342900" algn="l">
              <a:spcAft>
                <a:spcPts val="600"/>
              </a:spcAft>
              <a:buSzPct val="100000"/>
              <a:buChar char="•"/>
            </a:pPr>
            <a:r>
              <a:rPr lang="en-US" sz="1500" dirty="0">
                <a:solidFill>
                  <a:schemeClr val="bg1"/>
                </a:solidFill>
              </a:rPr>
              <a:t>A computer able to run WSL2 and Ubuntu</a:t>
            </a:r>
            <a:endParaRPr lang="en-US" sz="1600" dirty="0"/>
          </a:p>
          <a:p>
            <a:pPr marL="342900" indent="-342900" algn="l">
              <a:spcAft>
                <a:spcPts val="600"/>
              </a:spcAft>
              <a:buSzPct val="100000"/>
              <a:buChar char="•"/>
            </a:pPr>
            <a:r>
              <a:rPr lang="en-US" sz="1500" dirty="0">
                <a:solidFill>
                  <a:schemeClr val="bg1"/>
                </a:solidFill>
              </a:rPr>
              <a:t>No special hardware needed</a:t>
            </a:r>
            <a:endParaRPr lang="en-US" sz="1600" dirty="0"/>
          </a:p>
          <a:p>
            <a:pPr marL="342900" indent="-342900" algn="l">
              <a:buSzPct val="100000"/>
              <a:buChar char="•"/>
            </a:pPr>
            <a:r>
              <a:rPr lang="en-US" sz="1500" dirty="0">
                <a:solidFill>
                  <a:schemeClr val="accent6"/>
                </a:solidFill>
              </a:rPr>
              <a:t>Test machine details: [add CPU / RAM / storage]</a:t>
            </a:r>
            <a:endParaRPr lang="en-US" sz="1600" dirty="0"/>
          </a:p>
        </p:txBody>
      </p:sp>
      <p:sp>
        <p:nvSpPr>
          <p:cNvPr id="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System Architecture and Workflow</a:t>
            </a:r>
            <a:endParaRPr lang="en-US" sz="3600" dirty="0"/>
          </a:p>
        </p:txBody>
      </p:sp>
      <p:sp>
        <p:nvSpPr>
          <p:cNvPr id="4" name="Text 1"/>
          <p:cNvSpPr txBox="1"/>
          <p:nvPr/>
        </p:nvSpPr>
        <p:spPr>
          <a:xfrm>
            <a:off x="548640" y="1325880"/>
            <a:ext cx="3657600"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ARCHITECTURE</a:t>
            </a:r>
            <a:endParaRPr lang="en-US" sz="1200" dirty="0"/>
          </a:p>
        </p:txBody>
      </p:sp>
      <p:sp>
        <p:nvSpPr>
          <p:cNvPr id="5" name="Arch: user"/>
          <p:cNvSpPr txBox="1"/>
          <p:nvPr/>
        </p:nvSpPr>
        <p:spPr>
          <a:xfrm>
            <a:off x="548640" y="2057400"/>
            <a:ext cx="1554480" cy="1005840"/>
          </a:xfrm>
          <a:prstGeom prst="roundRect">
            <a:avLst>
              <a:gd name="adj" fmla="val 9091"/>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User</a:t>
            </a:r>
            <a:endParaRPr lang="en-US" sz="1400" dirty="0"/>
          </a:p>
          <a:p>
            <a:pPr marL="0" indent="0" algn="ctr">
              <a:buNone/>
            </a:pPr>
            <a:r>
              <a:rPr lang="en-US" sz="1400" dirty="0">
                <a:solidFill>
                  <a:schemeClr val="bg1"/>
                </a:solidFill>
              </a:rPr>
              <a:t>(terminal)</a:t>
            </a:r>
            <a:endParaRPr lang="en-US" sz="1400" dirty="0"/>
          </a:p>
        </p:txBody>
      </p:sp>
      <p:sp>
        <p:nvSpPr>
          <p:cNvPr id="6" name="Arch arrow 1"/>
          <p:cNvSpPr/>
          <p:nvPr/>
        </p:nvSpPr>
        <p:spPr>
          <a:xfrm>
            <a:off x="2103120" y="2560320"/>
            <a:ext cx="411480" cy="0"/>
          </a:xfrm>
          <a:prstGeom prst="line">
            <a:avLst/>
          </a:prstGeom>
          <a:noFill/>
          <a:ln w="25400">
            <a:solidFill>
              <a:schemeClr val="accent2"/>
            </a:solidFill>
            <a:prstDash val="solid"/>
            <a:tailEnd type="triangle"/>
          </a:ln>
        </p:spPr>
      </p:sp>
      <p:sp>
        <p:nvSpPr>
          <p:cNvPr id="7" name="Arch: menu"/>
          <p:cNvSpPr txBox="1"/>
          <p:nvPr/>
        </p:nvSpPr>
        <p:spPr>
          <a:xfrm>
            <a:off x="2514600" y="2057400"/>
            <a:ext cx="1920240" cy="1005840"/>
          </a:xfrm>
          <a:prstGeom prst="roundRect">
            <a:avLst>
              <a:gd name="adj" fmla="val 9091"/>
            </a:avLst>
          </a:prstGeom>
          <a:solidFill>
            <a:schemeClr val="accent1"/>
          </a:solidFill>
          <a:ln w="12700">
            <a:solidFill>
              <a:schemeClr val="accent1"/>
            </a:solidFill>
          </a:ln>
        </p:spPr>
        <p:txBody>
          <a:bodyPr wrap="square" lIns="1016" tIns="1016" rIns="1016" bIns="1016" rtlCol="0" anchor="ctr"/>
          <a:lstStyle/>
          <a:p>
            <a:pPr marL="0" indent="0" algn="ctr">
              <a:buNone/>
            </a:pPr>
            <a:r>
              <a:rPr lang="en-US" sz="1400" b="1" dirty="0">
                <a:solidFill>
                  <a:schemeClr val="bg1"/>
                </a:solidFill>
              </a:rPr>
              <a:t>Menu</a:t>
            </a:r>
            <a:endParaRPr lang="en-US" sz="1400" dirty="0"/>
          </a:p>
          <a:p>
            <a:pPr marL="0" indent="0" algn="ctr">
              <a:buNone/>
            </a:pPr>
            <a:r>
              <a:rPr lang="en-US" sz="1400" b="1" dirty="0">
                <a:solidFill>
                  <a:schemeClr val="bg1"/>
                </a:solidFill>
              </a:rPr>
              <a:t>(benchmark.c)</a:t>
            </a:r>
            <a:endParaRPr lang="en-US" sz="1400" dirty="0"/>
          </a:p>
        </p:txBody>
      </p:sp>
      <p:sp>
        <p:nvSpPr>
          <p:cNvPr id="8" name="Arch arrow 2"/>
          <p:cNvSpPr/>
          <p:nvPr/>
        </p:nvSpPr>
        <p:spPr>
          <a:xfrm>
            <a:off x="4434840" y="2560320"/>
            <a:ext cx="411480" cy="0"/>
          </a:xfrm>
          <a:prstGeom prst="line">
            <a:avLst/>
          </a:prstGeom>
          <a:noFill/>
          <a:ln w="25400">
            <a:solidFill>
              <a:schemeClr val="accent2"/>
            </a:solidFill>
            <a:prstDash val="solid"/>
            <a:tailEnd type="triangle"/>
          </a:ln>
        </p:spPr>
      </p:sp>
      <p:sp>
        <p:nvSpPr>
          <p:cNvPr id="9" name="Arch: CPU benchmark"/>
          <p:cNvSpPr txBox="1"/>
          <p:nvPr/>
        </p:nvSpPr>
        <p:spPr>
          <a:xfrm>
            <a:off x="4846320" y="1691640"/>
            <a:ext cx="2377440" cy="502920"/>
          </a:xfrm>
          <a:prstGeom prst="roundRect">
            <a:avLst>
              <a:gd name="adj" fmla="val 1818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CPU benchmark</a:t>
            </a:r>
            <a:endParaRPr lang="en-US" sz="1400" dirty="0"/>
          </a:p>
        </p:txBody>
      </p:sp>
      <p:sp>
        <p:nvSpPr>
          <p:cNvPr id="10" name="Arch: Memory benchmark"/>
          <p:cNvSpPr txBox="1"/>
          <p:nvPr/>
        </p:nvSpPr>
        <p:spPr>
          <a:xfrm>
            <a:off x="4846320" y="2304288"/>
            <a:ext cx="2377440" cy="502920"/>
          </a:xfrm>
          <a:prstGeom prst="roundRect">
            <a:avLst>
              <a:gd name="adj" fmla="val 1818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Memory benchmark</a:t>
            </a:r>
            <a:endParaRPr lang="en-US" sz="1400" dirty="0"/>
          </a:p>
        </p:txBody>
      </p:sp>
      <p:sp>
        <p:nvSpPr>
          <p:cNvPr id="11" name="Arch: File I/O benchmark"/>
          <p:cNvSpPr txBox="1"/>
          <p:nvPr/>
        </p:nvSpPr>
        <p:spPr>
          <a:xfrm>
            <a:off x="4846320" y="2916936"/>
            <a:ext cx="2377440" cy="502920"/>
          </a:xfrm>
          <a:prstGeom prst="roundRect">
            <a:avLst>
              <a:gd name="adj" fmla="val 1818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File I/O benchmark</a:t>
            </a:r>
            <a:endParaRPr lang="en-US" sz="1400" dirty="0"/>
          </a:p>
        </p:txBody>
      </p:sp>
      <p:sp>
        <p:nvSpPr>
          <p:cNvPr id="12" name="Arch arrow 3"/>
          <p:cNvSpPr/>
          <p:nvPr/>
        </p:nvSpPr>
        <p:spPr>
          <a:xfrm>
            <a:off x="7223760" y="2560320"/>
            <a:ext cx="411480" cy="0"/>
          </a:xfrm>
          <a:prstGeom prst="line">
            <a:avLst/>
          </a:prstGeom>
          <a:noFill/>
          <a:ln w="25400">
            <a:solidFill>
              <a:schemeClr val="accent2"/>
            </a:solidFill>
            <a:prstDash val="solid"/>
            <a:tailEnd type="triangle"/>
          </a:ln>
        </p:spPr>
      </p:sp>
      <p:sp>
        <p:nvSpPr>
          <p:cNvPr id="13" name="Arch: timing"/>
          <p:cNvSpPr txBox="1"/>
          <p:nvPr/>
        </p:nvSpPr>
        <p:spPr>
          <a:xfrm>
            <a:off x="7635240" y="2057400"/>
            <a:ext cx="1645920" cy="1005840"/>
          </a:xfrm>
          <a:prstGeom prst="roundRect">
            <a:avLst>
              <a:gd name="adj" fmla="val 9091"/>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400" dirty="0">
                <a:solidFill>
                  <a:schemeClr val="bg1"/>
                </a:solidFill>
              </a:rPr>
              <a:t>Timing</a:t>
            </a:r>
            <a:endParaRPr lang="en-US" sz="1400" dirty="0"/>
          </a:p>
          <a:p>
            <a:pPr marL="0" indent="0" algn="ctr">
              <a:buNone/>
            </a:pPr>
            <a:r>
              <a:rPr lang="en-US" sz="1400" dirty="0">
                <a:solidFill>
                  <a:schemeClr val="bg1"/>
                </a:solidFill>
              </a:rPr>
              <a:t>start → end</a:t>
            </a:r>
            <a:endParaRPr lang="en-US" sz="1400" dirty="0"/>
          </a:p>
        </p:txBody>
      </p:sp>
      <p:sp>
        <p:nvSpPr>
          <p:cNvPr id="14" name="Arch arrow 4"/>
          <p:cNvSpPr/>
          <p:nvPr/>
        </p:nvSpPr>
        <p:spPr>
          <a:xfrm>
            <a:off x="9281160" y="2560320"/>
            <a:ext cx="411480" cy="0"/>
          </a:xfrm>
          <a:prstGeom prst="line">
            <a:avLst/>
          </a:prstGeom>
          <a:noFill/>
          <a:ln w="25400">
            <a:solidFill>
              <a:schemeClr val="accent2"/>
            </a:solidFill>
            <a:prstDash val="solid"/>
            <a:tailEnd type="triangle"/>
          </a:ln>
        </p:spPr>
      </p:sp>
      <p:sp>
        <p:nvSpPr>
          <p:cNvPr id="15" name="Arch: results"/>
          <p:cNvSpPr txBox="1"/>
          <p:nvPr/>
        </p:nvSpPr>
        <p:spPr>
          <a:xfrm>
            <a:off x="9692640" y="2057400"/>
            <a:ext cx="1947672" cy="1005840"/>
          </a:xfrm>
          <a:prstGeom prst="roundRect">
            <a:avLst>
              <a:gd name="adj" fmla="val 9091"/>
            </a:avLst>
          </a:prstGeom>
          <a:solidFill>
            <a:schemeClr val="accent1"/>
          </a:solidFill>
          <a:ln w="12700">
            <a:solidFill>
              <a:schemeClr val="accent1"/>
            </a:solidFill>
          </a:ln>
        </p:spPr>
        <p:txBody>
          <a:bodyPr wrap="square" lIns="1016" tIns="1016" rIns="1016" bIns="1016" rtlCol="0" anchor="ctr"/>
          <a:lstStyle/>
          <a:p>
            <a:pPr marL="0" indent="0" algn="ctr">
              <a:buNone/>
            </a:pPr>
            <a:r>
              <a:rPr lang="en-US" sz="1400" b="1" dirty="0">
                <a:solidFill>
                  <a:schemeClr val="bg1"/>
                </a:solidFill>
              </a:rPr>
              <a:t>Results</a:t>
            </a:r>
            <a:endParaRPr lang="en-US" sz="1400" dirty="0"/>
          </a:p>
          <a:p>
            <a:pPr marL="0" indent="0" algn="ctr">
              <a:buNone/>
            </a:pPr>
            <a:r>
              <a:rPr lang="en-US" sz="1400" b="1" dirty="0">
                <a:solidFill>
                  <a:schemeClr val="bg1"/>
                </a:solidFill>
              </a:rPr>
              <a:t>console + CSV</a:t>
            </a:r>
            <a:endParaRPr lang="en-US" sz="1400" dirty="0"/>
          </a:p>
        </p:txBody>
      </p:sp>
      <p:sp>
        <p:nvSpPr>
          <p:cNvPr id="16" name="Text 13"/>
          <p:cNvSpPr txBox="1"/>
          <p:nvPr/>
        </p:nvSpPr>
        <p:spPr>
          <a:xfrm>
            <a:off x="548640" y="3703320"/>
            <a:ext cx="3657600"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WORKFLOW</a:t>
            </a:r>
            <a:endParaRPr lang="en-US" sz="1200" dirty="0"/>
          </a:p>
        </p:txBody>
      </p:sp>
      <p:sp>
        <p:nvSpPr>
          <p:cNvPr id="17" name="Workflow step 1"/>
          <p:cNvSpPr/>
          <p:nvPr/>
        </p:nvSpPr>
        <p:spPr>
          <a:xfrm>
            <a:off x="548640" y="4069080"/>
            <a:ext cx="1600200" cy="1600200"/>
          </a:xfrm>
          <a:prstGeom prst="roundRect">
            <a:avLst>
              <a:gd name="adj" fmla="val 6857"/>
            </a:avLst>
          </a:prstGeom>
          <a:solidFill>
            <a:schemeClr val="tx2"/>
          </a:solidFill>
          <a:ln w="12700">
            <a:solidFill>
              <a:schemeClr val="accent5"/>
            </a:solidFill>
            <a:prstDash val="solid"/>
          </a:ln>
        </p:spPr>
      </p:sp>
      <p:sp>
        <p:nvSpPr>
          <p:cNvPr id="18" name="Workflow number 1"/>
          <p:cNvSpPr txBox="1"/>
          <p:nvPr/>
        </p:nvSpPr>
        <p:spPr>
          <a:xfrm>
            <a:off x="685800" y="4206240"/>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9" name="Text 16"/>
          <p:cNvSpPr txBox="1"/>
          <p:nvPr/>
        </p:nvSpPr>
        <p:spPr>
          <a:xfrm>
            <a:off x="685800" y="4681728"/>
            <a:ext cx="1371600" cy="914400"/>
          </a:xfrm>
          <a:prstGeom prst="rect">
            <a:avLst/>
          </a:prstGeom>
          <a:noFill/>
          <a:ln/>
        </p:spPr>
        <p:txBody>
          <a:bodyPr wrap="square" lIns="0" tIns="0" rIns="0" bIns="0" rtlCol="0" anchor="t"/>
          <a:lstStyle/>
          <a:p>
            <a:pPr marL="0" indent="0" algn="l">
              <a:buNone/>
            </a:pPr>
            <a:r>
              <a:rPr lang="en-US" sz="1400" b="1" dirty="0">
                <a:solidFill>
                  <a:schemeClr val="bg1"/>
                </a:solidFill>
              </a:rPr>
              <a:t>Select a menu option</a:t>
            </a:r>
            <a:endParaRPr lang="en-US" sz="1400" dirty="0"/>
          </a:p>
        </p:txBody>
      </p:sp>
      <p:sp>
        <p:nvSpPr>
          <p:cNvPr id="20" name="Workflow arrow 1"/>
          <p:cNvSpPr/>
          <p:nvPr/>
        </p:nvSpPr>
        <p:spPr>
          <a:xfrm>
            <a:off x="2148840" y="4869180"/>
            <a:ext cx="298094" cy="0"/>
          </a:xfrm>
          <a:prstGeom prst="line">
            <a:avLst/>
          </a:prstGeom>
          <a:noFill/>
          <a:ln w="25400">
            <a:solidFill>
              <a:schemeClr val="accent2"/>
            </a:solidFill>
            <a:prstDash val="solid"/>
            <a:tailEnd type="triangle"/>
          </a:ln>
        </p:spPr>
      </p:sp>
      <p:sp>
        <p:nvSpPr>
          <p:cNvPr id="21" name="Workflow step 2"/>
          <p:cNvSpPr/>
          <p:nvPr/>
        </p:nvSpPr>
        <p:spPr>
          <a:xfrm>
            <a:off x="2446934" y="4069080"/>
            <a:ext cx="1600200" cy="1600200"/>
          </a:xfrm>
          <a:prstGeom prst="roundRect">
            <a:avLst>
              <a:gd name="adj" fmla="val 6857"/>
            </a:avLst>
          </a:prstGeom>
          <a:solidFill>
            <a:schemeClr val="tx2"/>
          </a:solidFill>
          <a:ln w="12700">
            <a:solidFill>
              <a:schemeClr val="accent5"/>
            </a:solidFill>
            <a:prstDash val="solid"/>
          </a:ln>
        </p:spPr>
      </p:sp>
      <p:sp>
        <p:nvSpPr>
          <p:cNvPr id="22" name="Workflow number 2"/>
          <p:cNvSpPr txBox="1"/>
          <p:nvPr/>
        </p:nvSpPr>
        <p:spPr>
          <a:xfrm>
            <a:off x="2584094" y="4206240"/>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3" name="Text 20"/>
          <p:cNvSpPr txBox="1"/>
          <p:nvPr/>
        </p:nvSpPr>
        <p:spPr>
          <a:xfrm>
            <a:off x="2584094" y="4681728"/>
            <a:ext cx="1371600" cy="914400"/>
          </a:xfrm>
          <a:prstGeom prst="rect">
            <a:avLst/>
          </a:prstGeom>
          <a:noFill/>
          <a:ln/>
        </p:spPr>
        <p:txBody>
          <a:bodyPr wrap="square" lIns="0" tIns="0" rIns="0" bIns="0" rtlCol="0" anchor="t"/>
          <a:lstStyle/>
          <a:p>
            <a:pPr marL="0" indent="0" algn="l">
              <a:buNone/>
            </a:pPr>
            <a:r>
              <a:rPr lang="en-US" sz="1400" b="1" dirty="0">
                <a:solidFill>
                  <a:schemeClr val="bg1"/>
                </a:solidFill>
              </a:rPr>
              <a:t>Run the chosen benchmark</a:t>
            </a:r>
            <a:endParaRPr lang="en-US" sz="1400" dirty="0"/>
          </a:p>
        </p:txBody>
      </p:sp>
      <p:sp>
        <p:nvSpPr>
          <p:cNvPr id="24" name="Workflow arrow 2"/>
          <p:cNvSpPr/>
          <p:nvPr/>
        </p:nvSpPr>
        <p:spPr>
          <a:xfrm>
            <a:off x="4047134" y="4869180"/>
            <a:ext cx="298094" cy="0"/>
          </a:xfrm>
          <a:prstGeom prst="line">
            <a:avLst/>
          </a:prstGeom>
          <a:noFill/>
          <a:ln w="25400">
            <a:solidFill>
              <a:schemeClr val="accent2"/>
            </a:solidFill>
            <a:prstDash val="solid"/>
            <a:tailEnd type="triangle"/>
          </a:ln>
        </p:spPr>
      </p:sp>
      <p:sp>
        <p:nvSpPr>
          <p:cNvPr id="25" name="Workflow step 3"/>
          <p:cNvSpPr/>
          <p:nvPr/>
        </p:nvSpPr>
        <p:spPr>
          <a:xfrm>
            <a:off x="4345229" y="4069080"/>
            <a:ext cx="1600200" cy="1600200"/>
          </a:xfrm>
          <a:prstGeom prst="roundRect">
            <a:avLst>
              <a:gd name="adj" fmla="val 6857"/>
            </a:avLst>
          </a:prstGeom>
          <a:solidFill>
            <a:schemeClr val="tx2"/>
          </a:solidFill>
          <a:ln w="12700">
            <a:solidFill>
              <a:schemeClr val="accent5"/>
            </a:solidFill>
            <a:prstDash val="solid"/>
          </a:ln>
        </p:spPr>
      </p:sp>
      <p:sp>
        <p:nvSpPr>
          <p:cNvPr id="26" name="Workflow number 3"/>
          <p:cNvSpPr txBox="1"/>
          <p:nvPr/>
        </p:nvSpPr>
        <p:spPr>
          <a:xfrm>
            <a:off x="4482389" y="4206240"/>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7" name="Text 24"/>
          <p:cNvSpPr txBox="1"/>
          <p:nvPr/>
        </p:nvSpPr>
        <p:spPr>
          <a:xfrm>
            <a:off x="4482389" y="4681728"/>
            <a:ext cx="1371600" cy="914400"/>
          </a:xfrm>
          <a:prstGeom prst="rect">
            <a:avLst/>
          </a:prstGeom>
          <a:noFill/>
          <a:ln/>
        </p:spPr>
        <p:txBody>
          <a:bodyPr wrap="square" lIns="0" tIns="0" rIns="0" bIns="0" rtlCol="0" anchor="t"/>
          <a:lstStyle/>
          <a:p>
            <a:pPr marL="0" indent="0" algn="l">
              <a:buNone/>
            </a:pPr>
            <a:r>
              <a:rPr lang="en-US" sz="1400" b="1" dirty="0">
                <a:solidFill>
                  <a:schemeClr val="bg1"/>
                </a:solidFill>
              </a:rPr>
              <a:t>Measure start and end time</a:t>
            </a:r>
            <a:endParaRPr lang="en-US" sz="1400" dirty="0"/>
          </a:p>
        </p:txBody>
      </p:sp>
      <p:sp>
        <p:nvSpPr>
          <p:cNvPr id="28" name="Workflow arrow 3"/>
          <p:cNvSpPr/>
          <p:nvPr/>
        </p:nvSpPr>
        <p:spPr>
          <a:xfrm>
            <a:off x="5945429" y="4869180"/>
            <a:ext cx="298094" cy="0"/>
          </a:xfrm>
          <a:prstGeom prst="line">
            <a:avLst/>
          </a:prstGeom>
          <a:noFill/>
          <a:ln w="25400">
            <a:solidFill>
              <a:schemeClr val="accent2"/>
            </a:solidFill>
            <a:prstDash val="solid"/>
            <a:tailEnd type="triangle"/>
          </a:ln>
        </p:spPr>
      </p:sp>
      <p:sp>
        <p:nvSpPr>
          <p:cNvPr id="29" name="Workflow step 4"/>
          <p:cNvSpPr/>
          <p:nvPr/>
        </p:nvSpPr>
        <p:spPr>
          <a:xfrm>
            <a:off x="6243523" y="4069080"/>
            <a:ext cx="1600200" cy="1600200"/>
          </a:xfrm>
          <a:prstGeom prst="roundRect">
            <a:avLst>
              <a:gd name="adj" fmla="val 6857"/>
            </a:avLst>
          </a:prstGeom>
          <a:solidFill>
            <a:schemeClr val="tx2"/>
          </a:solidFill>
          <a:ln w="12700">
            <a:solidFill>
              <a:schemeClr val="accent5"/>
            </a:solidFill>
            <a:prstDash val="solid"/>
          </a:ln>
        </p:spPr>
      </p:sp>
      <p:sp>
        <p:nvSpPr>
          <p:cNvPr id="30" name="Workflow number 4"/>
          <p:cNvSpPr txBox="1"/>
          <p:nvPr/>
        </p:nvSpPr>
        <p:spPr>
          <a:xfrm>
            <a:off x="6380683" y="4206240"/>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1" name="Text 28"/>
          <p:cNvSpPr txBox="1"/>
          <p:nvPr/>
        </p:nvSpPr>
        <p:spPr>
          <a:xfrm>
            <a:off x="6380683" y="4681728"/>
            <a:ext cx="1371600" cy="914400"/>
          </a:xfrm>
          <a:prstGeom prst="rect">
            <a:avLst/>
          </a:prstGeom>
          <a:noFill/>
          <a:ln/>
        </p:spPr>
        <p:txBody>
          <a:bodyPr wrap="square" lIns="0" tIns="0" rIns="0" bIns="0" rtlCol="0" anchor="t"/>
          <a:lstStyle/>
          <a:p>
            <a:pPr marL="0" indent="0" algn="l">
              <a:buNone/>
            </a:pPr>
            <a:r>
              <a:rPr lang="en-US" sz="1400" b="1" dirty="0">
                <a:solidFill>
                  <a:schemeClr val="bg1"/>
                </a:solidFill>
              </a:rPr>
              <a:t>Repeat for 3 rounds (combined mode)</a:t>
            </a:r>
            <a:endParaRPr lang="en-US" sz="1400" dirty="0"/>
          </a:p>
        </p:txBody>
      </p:sp>
      <p:sp>
        <p:nvSpPr>
          <p:cNvPr id="32" name="Workflow arrow 4"/>
          <p:cNvSpPr/>
          <p:nvPr/>
        </p:nvSpPr>
        <p:spPr>
          <a:xfrm>
            <a:off x="7843723" y="4869180"/>
            <a:ext cx="298094" cy="0"/>
          </a:xfrm>
          <a:prstGeom prst="line">
            <a:avLst/>
          </a:prstGeom>
          <a:noFill/>
          <a:ln w="25400">
            <a:solidFill>
              <a:schemeClr val="accent2"/>
            </a:solidFill>
            <a:prstDash val="solid"/>
            <a:tailEnd type="triangle"/>
          </a:ln>
        </p:spPr>
      </p:sp>
      <p:sp>
        <p:nvSpPr>
          <p:cNvPr id="33" name="Workflow step 5"/>
          <p:cNvSpPr/>
          <p:nvPr/>
        </p:nvSpPr>
        <p:spPr>
          <a:xfrm>
            <a:off x="8141818" y="4069080"/>
            <a:ext cx="1600200" cy="1600200"/>
          </a:xfrm>
          <a:prstGeom prst="roundRect">
            <a:avLst>
              <a:gd name="adj" fmla="val 6857"/>
            </a:avLst>
          </a:prstGeom>
          <a:solidFill>
            <a:schemeClr val="tx2"/>
          </a:solidFill>
          <a:ln w="12700">
            <a:solidFill>
              <a:schemeClr val="accent5"/>
            </a:solidFill>
            <a:prstDash val="solid"/>
          </a:ln>
        </p:spPr>
      </p:sp>
      <p:sp>
        <p:nvSpPr>
          <p:cNvPr id="34" name="Workflow number 5"/>
          <p:cNvSpPr txBox="1"/>
          <p:nvPr/>
        </p:nvSpPr>
        <p:spPr>
          <a:xfrm>
            <a:off x="8278978" y="4206240"/>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5" name="Text 32"/>
          <p:cNvSpPr txBox="1"/>
          <p:nvPr/>
        </p:nvSpPr>
        <p:spPr>
          <a:xfrm>
            <a:off x="8278978" y="4681728"/>
            <a:ext cx="1371600" cy="914400"/>
          </a:xfrm>
          <a:prstGeom prst="rect">
            <a:avLst/>
          </a:prstGeom>
          <a:noFill/>
          <a:ln/>
        </p:spPr>
        <p:txBody>
          <a:bodyPr wrap="square" lIns="0" tIns="0" rIns="0" bIns="0" rtlCol="0" anchor="t"/>
          <a:lstStyle/>
          <a:p>
            <a:pPr marL="0" indent="0" algn="l">
              <a:buNone/>
            </a:pPr>
            <a:r>
              <a:rPr lang="en-US" sz="1400" b="1" dirty="0">
                <a:solidFill>
                  <a:schemeClr val="bg1"/>
                </a:solidFill>
              </a:rPr>
              <a:t>Calculate average time</a:t>
            </a:r>
            <a:endParaRPr lang="en-US" sz="1400" dirty="0"/>
          </a:p>
        </p:txBody>
      </p:sp>
      <p:sp>
        <p:nvSpPr>
          <p:cNvPr id="36" name="Workflow arrow 5"/>
          <p:cNvSpPr/>
          <p:nvPr/>
        </p:nvSpPr>
        <p:spPr>
          <a:xfrm>
            <a:off x="9742018" y="4869180"/>
            <a:ext cx="298094" cy="0"/>
          </a:xfrm>
          <a:prstGeom prst="line">
            <a:avLst/>
          </a:prstGeom>
          <a:noFill/>
          <a:ln w="25400">
            <a:solidFill>
              <a:schemeClr val="accent2"/>
            </a:solidFill>
            <a:prstDash val="solid"/>
            <a:tailEnd type="triangle"/>
          </a:ln>
        </p:spPr>
      </p:sp>
      <p:sp>
        <p:nvSpPr>
          <p:cNvPr id="37" name="Workflow step 6"/>
          <p:cNvSpPr/>
          <p:nvPr/>
        </p:nvSpPr>
        <p:spPr>
          <a:xfrm>
            <a:off x="10040112" y="4069080"/>
            <a:ext cx="1600200" cy="1600200"/>
          </a:xfrm>
          <a:prstGeom prst="roundRect">
            <a:avLst>
              <a:gd name="adj" fmla="val 6857"/>
            </a:avLst>
          </a:prstGeom>
          <a:solidFill>
            <a:schemeClr val="tx2"/>
          </a:solidFill>
          <a:ln w="12700">
            <a:solidFill>
              <a:schemeClr val="accent5"/>
            </a:solidFill>
            <a:prstDash val="solid"/>
          </a:ln>
        </p:spPr>
      </p:sp>
      <p:sp>
        <p:nvSpPr>
          <p:cNvPr id="38" name="Workflow number 6"/>
          <p:cNvSpPr txBox="1"/>
          <p:nvPr/>
        </p:nvSpPr>
        <p:spPr>
          <a:xfrm>
            <a:off x="10177272" y="4206240"/>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9" name="Text 36"/>
          <p:cNvSpPr txBox="1"/>
          <p:nvPr/>
        </p:nvSpPr>
        <p:spPr>
          <a:xfrm>
            <a:off x="10177272" y="4681728"/>
            <a:ext cx="1371600" cy="914400"/>
          </a:xfrm>
          <a:prstGeom prst="rect">
            <a:avLst/>
          </a:prstGeom>
          <a:noFill/>
          <a:ln/>
        </p:spPr>
        <p:txBody>
          <a:bodyPr wrap="square" lIns="0" tIns="0" rIns="0" bIns="0" rtlCol="0" anchor="t"/>
          <a:lstStyle/>
          <a:p>
            <a:pPr marL="0" indent="0" algn="l">
              <a:buNone/>
            </a:pPr>
            <a:r>
              <a:rPr lang="en-US" sz="1400" b="1" dirty="0">
                <a:solidFill>
                  <a:schemeClr val="bg1"/>
                </a:solidFill>
              </a:rPr>
              <a:t>Save results to the CSV file</a:t>
            </a:r>
            <a:endParaRPr lang="en-US" sz="1400" dirty="0"/>
          </a:p>
        </p:txBody>
      </p:sp>
      <p:sp>
        <p:nvSpPr>
          <p:cNvPr id="40" name="Text 37"/>
          <p:cNvSpPr txBox="1"/>
          <p:nvPr/>
        </p:nvSpPr>
        <p:spPr>
          <a:xfrm>
            <a:off x="548640" y="5852160"/>
            <a:ext cx="11091672" cy="320040"/>
          </a:xfrm>
          <a:prstGeom prst="rect">
            <a:avLst/>
          </a:prstGeom>
          <a:noFill/>
          <a:ln/>
        </p:spPr>
        <p:txBody>
          <a:bodyPr wrap="square" lIns="0" tIns="0" rIns="0" bIns="0" rtlCol="0" anchor="t"/>
          <a:lstStyle/>
          <a:p>
            <a:pPr marL="0" indent="0" algn="l">
              <a:buNone/>
            </a:pPr>
            <a:r>
              <a:rPr lang="en-US" sz="1300" dirty="0">
                <a:solidFill>
                  <a:schemeClr val="accent4"/>
                </a:solidFill>
              </a:rPr>
              <a:t>Individual mode runs one benchmark. Combined mode runs all three benchmarks for three rounds.</a:t>
            </a:r>
            <a:endParaRPr lang="en-US" sz="1300" dirty="0"/>
          </a:p>
        </p:txBody>
      </p:sp>
      <p:sp>
        <p:nvSpPr>
          <p:cNvPr id="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CPU Benchmark Implementation</a:t>
            </a:r>
            <a:endParaRPr lang="en-US" sz="3600" dirty="0"/>
          </a:p>
        </p:txBody>
      </p:sp>
      <p:sp>
        <p:nvSpPr>
          <p:cNvPr id="4" name="Terminal window"/>
          <p:cNvSpPr/>
          <p:nvPr/>
        </p:nvSpPr>
        <p:spPr>
          <a:xfrm>
            <a:off x="548640" y="1508760"/>
            <a:ext cx="6035040" cy="2514600"/>
          </a:xfrm>
          <a:prstGeom prst="roundRect">
            <a:avLst>
              <a:gd name="adj" fmla="val 3636"/>
            </a:avLst>
          </a:prstGeom>
          <a:solidFill>
            <a:schemeClr val="tx1"/>
          </a:solidFill>
          <a:ln w="15875">
            <a:solidFill>
              <a:schemeClr val="accent5"/>
            </a:solidFill>
            <a:prstDash val="solid"/>
          </a:ln>
        </p:spPr>
      </p:sp>
      <p:sp>
        <p:nvSpPr>
          <p:cNvPr id="5" name="Window dot 1"/>
          <p:cNvSpPr/>
          <p:nvPr/>
        </p:nvSpPr>
        <p:spPr>
          <a:xfrm>
            <a:off x="749808" y="1664208"/>
            <a:ext cx="118872" cy="118872"/>
          </a:xfrm>
          <a:prstGeom prst="ellipse">
            <a:avLst/>
          </a:prstGeom>
          <a:solidFill>
            <a:schemeClr val="accent4">
              <a:alpha val="60000"/>
            </a:schemeClr>
          </a:solidFill>
          <a:ln w="12700">
            <a:solidFill>
              <a:schemeClr val="accent4">
                <a:alpha val="0"/>
              </a:schemeClr>
            </a:solidFill>
            <a:prstDash val="solid"/>
          </a:ln>
        </p:spPr>
      </p:sp>
      <p:sp>
        <p:nvSpPr>
          <p:cNvPr id="6" name="Window dot 2"/>
          <p:cNvSpPr/>
          <p:nvPr/>
        </p:nvSpPr>
        <p:spPr>
          <a:xfrm>
            <a:off x="969264" y="1664208"/>
            <a:ext cx="118872" cy="118872"/>
          </a:xfrm>
          <a:prstGeom prst="ellipse">
            <a:avLst/>
          </a:prstGeom>
          <a:solidFill>
            <a:schemeClr val="accent4">
              <a:alpha val="60000"/>
            </a:schemeClr>
          </a:solidFill>
          <a:ln w="12700">
            <a:solidFill>
              <a:schemeClr val="accent4">
                <a:alpha val="0"/>
              </a:schemeClr>
            </a:solidFill>
            <a:prstDash val="solid"/>
          </a:ln>
        </p:spPr>
      </p:sp>
      <p:sp>
        <p:nvSpPr>
          <p:cNvPr id="7" name="Window dot 3"/>
          <p:cNvSpPr/>
          <p:nvPr/>
        </p:nvSpPr>
        <p:spPr>
          <a:xfrm>
            <a:off x="1188720" y="1664208"/>
            <a:ext cx="118872" cy="118872"/>
          </a:xfrm>
          <a:prstGeom prst="ellipse">
            <a:avLst/>
          </a:prstGeom>
          <a:solidFill>
            <a:schemeClr val="accent4">
              <a:alpha val="60000"/>
            </a:schemeClr>
          </a:solidFill>
          <a:ln w="12700">
            <a:solidFill>
              <a:schemeClr val="accent4">
                <a:alpha val="0"/>
              </a:schemeClr>
            </a:solidFill>
            <a:prstDash val="solid"/>
          </a:ln>
        </p:spPr>
      </p:sp>
      <p:sp>
        <p:nvSpPr>
          <p:cNvPr id="8" name="Text 5"/>
          <p:cNvSpPr txBox="1"/>
          <p:nvPr/>
        </p:nvSpPr>
        <p:spPr>
          <a:xfrm>
            <a:off x="1554480" y="1600200"/>
            <a:ext cx="4846320" cy="274320"/>
          </a:xfrm>
          <a:prstGeom prst="rect">
            <a:avLst/>
          </a:prstGeom>
          <a:noFill/>
          <a:ln/>
        </p:spPr>
        <p:txBody>
          <a:bodyPr wrap="square" lIns="0" tIns="0" rIns="0" bIns="0" rtlCol="0" anchor="ctr"/>
          <a:lstStyle/>
          <a:p>
            <a:pPr marL="0" indent="0" algn="l">
              <a:buNone/>
            </a:pPr>
            <a:r>
              <a:rPr lang="en-US" sz="1100" dirty="0">
                <a:solidFill>
                  <a:schemeClr val="accent4"/>
                </a:solidFill>
                <a:latin typeface="Courier New" pitchFamily="34" charset="0"/>
                <a:ea typeface="Courier New" pitchFamily="34" charset="-122"/>
                <a:cs typeface="Courier New" pitchFamily="34" charset="-120"/>
              </a:rPr>
              <a:t>cpu benchmark (pseudocode)</a:t>
            </a:r>
            <a:endParaRPr lang="en-US" sz="1100" dirty="0"/>
          </a:p>
        </p:txBody>
      </p:sp>
      <p:sp>
        <p:nvSpPr>
          <p:cNvPr id="9" name="Text 6"/>
          <p:cNvSpPr txBox="1"/>
          <p:nvPr/>
        </p:nvSpPr>
        <p:spPr>
          <a:xfrm>
            <a:off x="822960" y="2075688"/>
            <a:ext cx="5486400" cy="1783080"/>
          </a:xfrm>
          <a:prstGeom prst="rect">
            <a:avLst/>
          </a:prstGeom>
          <a:noFill/>
          <a:ln/>
        </p:spPr>
        <p:txBody>
          <a:bodyPr wrap="square" lIns="0" tIns="0" rIns="0" bIns="0" rtlCol="0" anchor="t"/>
          <a:lstStyle/>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start</a:t>
            </a:r>
            <a:r>
              <a:rPr lang="en-US" sz="1500" dirty="0">
                <a:solidFill>
                  <a:schemeClr val="bg1"/>
                </a:solidFill>
                <a:latin typeface="Courier New" pitchFamily="34" charset="0"/>
                <a:ea typeface="Courier New" pitchFamily="34" charset="-122"/>
                <a:cs typeface="Courier New" pitchFamily="34" charset="-120"/>
              </a:rPr>
              <a:t> = current_time()</a:t>
            </a:r>
            <a:endParaRPr lang="en-US" sz="1500" dirty="0"/>
          </a:p>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result</a:t>
            </a:r>
            <a:r>
              <a:rPr lang="en-US" sz="1500" dirty="0">
                <a:solidFill>
                  <a:schemeClr val="bg1"/>
                </a:solidFill>
                <a:latin typeface="Courier New" pitchFamily="34" charset="0"/>
                <a:ea typeface="Courier New" pitchFamily="34" charset="-122"/>
                <a:cs typeface="Courier New" pitchFamily="34" charset="-120"/>
              </a:rPr>
              <a:t> = run_cpu_calculation()</a:t>
            </a:r>
            <a:endParaRPr lang="en-US" sz="1500" dirty="0"/>
          </a:p>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end</a:t>
            </a:r>
            <a:r>
              <a:rPr lang="en-US" sz="1500" dirty="0">
                <a:solidFill>
                  <a:schemeClr val="bg1"/>
                </a:solidFill>
                <a:latin typeface="Courier New" pitchFamily="34" charset="0"/>
                <a:ea typeface="Courier New" pitchFamily="34" charset="-122"/>
                <a:cs typeface="Courier New" pitchFamily="34" charset="-120"/>
              </a:rPr>
              <a:t> = current_time()</a:t>
            </a:r>
            <a:endParaRPr lang="en-US" sz="1500" dirty="0"/>
          </a:p>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elapsed</a:t>
            </a:r>
            <a:r>
              <a:rPr lang="en-US" sz="1500" dirty="0">
                <a:solidFill>
                  <a:schemeClr val="bg1"/>
                </a:solidFill>
                <a:latin typeface="Courier New" pitchFamily="34" charset="0"/>
                <a:ea typeface="Courier New" pitchFamily="34" charset="-122"/>
                <a:cs typeface="Courier New" pitchFamily="34" charset="-120"/>
              </a:rPr>
              <a:t> = end - start</a:t>
            </a:r>
            <a:endParaRPr lang="en-US" sz="1500" dirty="0"/>
          </a:p>
          <a:p>
            <a:pPr marL="0" indent="0" algn="l">
              <a:spcAft>
                <a:spcPts val="400"/>
              </a:spcAft>
              <a:buNone/>
            </a:pPr>
            <a:r>
              <a:rPr lang="en-US" sz="1500" dirty="0">
                <a:solidFill>
                  <a:schemeClr val="bg1"/>
                </a:solidFill>
                <a:latin typeface="Courier New" pitchFamily="34" charset="0"/>
                <a:ea typeface="Courier New" pitchFamily="34" charset="-122"/>
                <a:cs typeface="Courier New" pitchFamily="34" charset="-120"/>
              </a:rPr>
              <a:t>print(result, elapsed)</a:t>
            </a:r>
            <a:endParaRPr lang="en-US" sz="1500" dirty="0"/>
          </a:p>
        </p:txBody>
      </p:sp>
      <p:sp>
        <p:nvSpPr>
          <p:cNvPr id="10" name="Text 7"/>
          <p:cNvSpPr txBox="1"/>
          <p:nvPr/>
        </p:nvSpPr>
        <p:spPr>
          <a:xfrm>
            <a:off x="548640" y="4114800"/>
            <a:ext cx="6035040" cy="274320"/>
          </a:xfrm>
          <a:prstGeom prst="rect">
            <a:avLst/>
          </a:prstGeom>
          <a:noFill/>
          <a:ln/>
        </p:spPr>
        <p:txBody>
          <a:bodyPr wrap="square" lIns="0" tIns="0" rIns="0" bIns="0" rtlCol="0" anchor="t"/>
          <a:lstStyle/>
          <a:p>
            <a:pPr marL="0" indent="0" algn="l">
              <a:buNone/>
            </a:pPr>
            <a:r>
              <a:rPr lang="en-US" sz="1100" dirty="0">
                <a:solidFill>
                  <a:schemeClr val="accent4"/>
                </a:solidFill>
              </a:rPr>
              <a:t>Simplified pseudocode, not the exact source code</a:t>
            </a:r>
            <a:endParaRPr lang="en-US" sz="1100" dirty="0"/>
          </a:p>
        </p:txBody>
      </p:sp>
      <p:sp>
        <p:nvSpPr>
          <p:cNvPr id="11" name="Text 8"/>
          <p:cNvSpPr txBox="1"/>
          <p:nvPr/>
        </p:nvSpPr>
        <p:spPr>
          <a:xfrm>
            <a:off x="548640" y="4617720"/>
            <a:ext cx="6035040" cy="1554480"/>
          </a:xfrm>
          <a:prstGeom prst="rect">
            <a:avLst/>
          </a:prstGeom>
          <a:noFill/>
          <a:ln/>
        </p:spPr>
        <p:txBody>
          <a:bodyPr wrap="square" lIns="0" tIns="0" rIns="0" bIns="0" rtlCol="0" anchor="t"/>
          <a:lstStyle/>
          <a:p>
            <a:pPr marL="342900" indent="-342900" algn="l">
              <a:spcAft>
                <a:spcPts val="800"/>
              </a:spcAft>
              <a:buSzPct val="100000"/>
              <a:buChar char="•"/>
            </a:pPr>
            <a:r>
              <a:rPr lang="en-US" sz="1600" dirty="0">
                <a:solidFill>
                  <a:schemeClr val="bg1"/>
                </a:solidFill>
              </a:rPr>
              <a:t>Fixed CPU-bound calculation</a:t>
            </a:r>
            <a:endParaRPr lang="en-US" sz="1600" dirty="0"/>
          </a:p>
          <a:p>
            <a:pPr marL="342900" indent="-342900" algn="l">
              <a:spcAft>
                <a:spcPts val="800"/>
              </a:spcAft>
              <a:buSzPct val="100000"/>
              <a:buChar char="•"/>
            </a:pPr>
            <a:r>
              <a:rPr lang="en-US" sz="1600" dirty="0">
                <a:solidFill>
                  <a:schemeClr val="bg1"/>
                </a:solidFill>
              </a:rPr>
              <a:t>Time = end timestamp − start timestamp</a:t>
            </a:r>
            <a:endParaRPr lang="en-US" sz="1600" dirty="0"/>
          </a:p>
          <a:p>
            <a:pPr marL="342900" indent="-342900" algn="l">
              <a:spcAft>
                <a:spcPts val="800"/>
              </a:spcAft>
              <a:buSzPct val="100000"/>
              <a:buChar char="•"/>
            </a:pPr>
            <a:r>
              <a:rPr lang="en-US" sz="1600" dirty="0">
                <a:solidFill>
                  <a:schemeClr val="bg1"/>
                </a:solidFill>
              </a:rPr>
              <a:t>Result printed to confirm the work finished</a:t>
            </a:r>
            <a:endParaRPr lang="en-US" sz="1600" dirty="0"/>
          </a:p>
        </p:txBody>
      </p:sp>
      <p:sp>
        <p:nvSpPr>
          <p:cNvPr id="12" name="Stat card: Average CPU time (3 runs)"/>
          <p:cNvSpPr/>
          <p:nvPr/>
        </p:nvSpPr>
        <p:spPr>
          <a:xfrm>
            <a:off x="6949440" y="1508760"/>
            <a:ext cx="4690872" cy="1417320"/>
          </a:xfrm>
          <a:prstGeom prst="roundRect">
            <a:avLst>
              <a:gd name="adj" fmla="val 7742"/>
            </a:avLst>
          </a:prstGeom>
          <a:solidFill>
            <a:schemeClr val="tx2"/>
          </a:solidFill>
          <a:ln w="12700">
            <a:solidFill>
              <a:schemeClr val="accent5"/>
            </a:solidFill>
            <a:prstDash val="solid"/>
          </a:ln>
        </p:spPr>
      </p:sp>
      <p:sp>
        <p:nvSpPr>
          <p:cNvPr id="13" name="Text 10"/>
          <p:cNvSpPr txBox="1"/>
          <p:nvPr/>
        </p:nvSpPr>
        <p:spPr>
          <a:xfrm>
            <a:off x="7223760" y="1673352"/>
            <a:ext cx="4142232" cy="274320"/>
          </a:xfrm>
          <a:prstGeom prst="rect">
            <a:avLst/>
          </a:prstGeom>
          <a:noFill/>
          <a:ln/>
        </p:spPr>
        <p:txBody>
          <a:bodyPr wrap="square" lIns="0" tIns="0" rIns="0" bIns="0" rtlCol="0" anchor="t"/>
          <a:lstStyle/>
          <a:p>
            <a:pPr marL="0" indent="0" algn="l">
              <a:buNone/>
            </a:pPr>
            <a:r>
              <a:rPr lang="en-US" sz="1400" dirty="0">
                <a:solidFill>
                  <a:schemeClr val="accent4"/>
                </a:solidFill>
              </a:rPr>
              <a:t>Average CPU time (3 runs)</a:t>
            </a:r>
            <a:endParaRPr lang="en-US" sz="1400" dirty="0"/>
          </a:p>
        </p:txBody>
      </p:sp>
      <p:sp>
        <p:nvSpPr>
          <p:cNvPr id="14" name="Text 11"/>
          <p:cNvSpPr txBox="1"/>
          <p:nvPr/>
        </p:nvSpPr>
        <p:spPr>
          <a:xfrm>
            <a:off x="7223760" y="1965960"/>
            <a:ext cx="4142232" cy="868680"/>
          </a:xfrm>
          <a:prstGeom prst="rect">
            <a:avLst/>
          </a:prstGeom>
          <a:noFill/>
          <a:ln/>
        </p:spPr>
        <p:txBody>
          <a:bodyPr wrap="square" lIns="0" tIns="0" rIns="0" bIns="0" rtlCol="0" anchor="ctr"/>
          <a:lstStyle/>
          <a:p>
            <a:pPr marL="0" indent="0" algn="l">
              <a:buNone/>
            </a:pPr>
            <a:r>
              <a:rPr lang="en-US" sz="3600" b="1" dirty="0">
                <a:solidFill>
                  <a:schemeClr val="accent2"/>
                </a:solidFill>
              </a:rPr>
              <a:t>0.017715 s</a:t>
            </a:r>
            <a:endParaRPr lang="en-US" sz="3600" dirty="0"/>
          </a:p>
        </p:txBody>
      </p:sp>
      <p:sp>
        <p:nvSpPr>
          <p:cNvPr id="15" name="Stat card: Calculation result"/>
          <p:cNvSpPr/>
          <p:nvPr/>
        </p:nvSpPr>
        <p:spPr>
          <a:xfrm>
            <a:off x="6949440" y="3108960"/>
            <a:ext cx="4690872" cy="1417320"/>
          </a:xfrm>
          <a:prstGeom prst="roundRect">
            <a:avLst>
              <a:gd name="adj" fmla="val 7742"/>
            </a:avLst>
          </a:prstGeom>
          <a:solidFill>
            <a:schemeClr val="tx2"/>
          </a:solidFill>
          <a:ln w="12700">
            <a:solidFill>
              <a:schemeClr val="accent5"/>
            </a:solidFill>
            <a:prstDash val="solid"/>
          </a:ln>
        </p:spPr>
      </p:sp>
      <p:sp>
        <p:nvSpPr>
          <p:cNvPr id="16" name="Text 13"/>
          <p:cNvSpPr txBox="1"/>
          <p:nvPr/>
        </p:nvSpPr>
        <p:spPr>
          <a:xfrm>
            <a:off x="7223760" y="3273552"/>
            <a:ext cx="4142232" cy="274320"/>
          </a:xfrm>
          <a:prstGeom prst="rect">
            <a:avLst/>
          </a:prstGeom>
          <a:noFill/>
          <a:ln/>
        </p:spPr>
        <p:txBody>
          <a:bodyPr wrap="square" lIns="0" tIns="0" rIns="0" bIns="0" rtlCol="0" anchor="t"/>
          <a:lstStyle/>
          <a:p>
            <a:pPr marL="0" indent="0" algn="l">
              <a:buNone/>
            </a:pPr>
            <a:r>
              <a:rPr lang="en-US" sz="1400" dirty="0">
                <a:solidFill>
                  <a:schemeClr val="accent4"/>
                </a:solidFill>
              </a:rPr>
              <a:t>Calculation result</a:t>
            </a:r>
            <a:endParaRPr lang="en-US" sz="1400" dirty="0"/>
          </a:p>
        </p:txBody>
      </p:sp>
      <p:sp>
        <p:nvSpPr>
          <p:cNvPr id="17" name="Text 14"/>
          <p:cNvSpPr txBox="1"/>
          <p:nvPr/>
        </p:nvSpPr>
        <p:spPr>
          <a:xfrm>
            <a:off x="7223760" y="3566160"/>
            <a:ext cx="4142232" cy="868680"/>
          </a:xfrm>
          <a:prstGeom prst="rect">
            <a:avLst/>
          </a:prstGeom>
          <a:noFill/>
          <a:ln/>
        </p:spPr>
        <p:txBody>
          <a:bodyPr wrap="square" lIns="0" tIns="0" rIns="0" bIns="0" rtlCol="0" anchor="ctr"/>
          <a:lstStyle/>
          <a:p>
            <a:pPr marL="0" indent="0" algn="l">
              <a:buNone/>
            </a:pPr>
            <a:r>
              <a:rPr lang="en-US" sz="2600" b="1" dirty="0">
                <a:solidFill>
                  <a:schemeClr val="accent2"/>
                </a:solidFill>
                <a:latin typeface="Courier New" pitchFamily="34" charset="0"/>
                <a:ea typeface="Courier New" pitchFamily="34" charset="-122"/>
                <a:cs typeface="Courier New" pitchFamily="34" charset="-120"/>
              </a:rPr>
              <a:t>199999990000000</a:t>
            </a:r>
            <a:endParaRPr lang="en-US" sz="2600" dirty="0"/>
          </a:p>
        </p:txBody>
      </p:sp>
      <p:sp>
        <p:nvSpPr>
          <p:cNvPr id="18" name="Run times card"/>
          <p:cNvSpPr/>
          <p:nvPr/>
        </p:nvSpPr>
        <p:spPr>
          <a:xfrm>
            <a:off x="6949440" y="4709160"/>
            <a:ext cx="4690872" cy="1417320"/>
          </a:xfrm>
          <a:prstGeom prst="roundRect">
            <a:avLst>
              <a:gd name="adj" fmla="val 7742"/>
            </a:avLst>
          </a:prstGeom>
          <a:solidFill>
            <a:schemeClr val="tx2"/>
          </a:solidFill>
          <a:ln w="12700">
            <a:solidFill>
              <a:schemeClr val="accent5"/>
            </a:solidFill>
            <a:prstDash val="solid"/>
          </a:ln>
        </p:spPr>
      </p:sp>
      <p:sp>
        <p:nvSpPr>
          <p:cNvPr id="19" name="Text 16"/>
          <p:cNvSpPr txBox="1"/>
          <p:nvPr/>
        </p:nvSpPr>
        <p:spPr>
          <a:xfrm>
            <a:off x="7223760" y="4846320"/>
            <a:ext cx="4114800" cy="274320"/>
          </a:xfrm>
          <a:prstGeom prst="rect">
            <a:avLst/>
          </a:prstGeom>
          <a:noFill/>
          <a:ln/>
        </p:spPr>
        <p:txBody>
          <a:bodyPr wrap="square" lIns="0" tIns="0" rIns="0" bIns="0" rtlCol="0" anchor="t"/>
          <a:lstStyle/>
          <a:p>
            <a:pPr marL="0" indent="0" algn="l">
              <a:buNone/>
            </a:pPr>
            <a:r>
              <a:rPr lang="en-US" sz="1400" dirty="0">
                <a:solidFill>
                  <a:schemeClr val="accent4"/>
                </a:solidFill>
              </a:rPr>
              <a:t>Individual runs (seconds)</a:t>
            </a:r>
            <a:endParaRPr lang="en-US" sz="1400" dirty="0"/>
          </a:p>
        </p:txBody>
      </p:sp>
      <p:sp>
        <p:nvSpPr>
          <p:cNvPr id="20" name="Text 17"/>
          <p:cNvSpPr txBox="1"/>
          <p:nvPr/>
        </p:nvSpPr>
        <p:spPr>
          <a:xfrm>
            <a:off x="7223760" y="5212080"/>
            <a:ext cx="4206240" cy="640080"/>
          </a:xfrm>
          <a:prstGeom prst="rect">
            <a:avLst/>
          </a:prstGeom>
          <a:noFill/>
          <a:ln/>
        </p:spPr>
        <p:txBody>
          <a:bodyPr wrap="square" lIns="0" tIns="0" rIns="0" bIns="0" rtlCol="0" anchor="ctr"/>
          <a:lstStyle/>
          <a:p>
            <a:pPr marL="0" indent="0" algn="l">
              <a:buNone/>
            </a:pPr>
            <a:r>
              <a:rPr lang="en-US" sz="1600" dirty="0">
                <a:solidFill>
                  <a:schemeClr val="bg1"/>
                </a:solidFill>
                <a:latin typeface="Courier New" pitchFamily="34" charset="0"/>
                <a:ea typeface="Courier New" pitchFamily="34" charset="-122"/>
                <a:cs typeface="Courier New" pitchFamily="34" charset="-120"/>
              </a:rPr>
              <a:t>0.019185  ·  0.017272  ·  0.016690</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Memory Benchmark Implementation</a:t>
            </a:r>
            <a:endParaRPr lang="en-US" sz="3600" dirty="0"/>
          </a:p>
        </p:txBody>
      </p:sp>
      <p:sp>
        <p:nvSpPr>
          <p:cNvPr id="4" name="Memory step 1"/>
          <p:cNvSpPr txBox="1"/>
          <p:nvPr/>
        </p:nvSpPr>
        <p:spPr>
          <a:xfrm>
            <a:off x="548640" y="1463040"/>
            <a:ext cx="2514600" cy="1188720"/>
          </a:xfrm>
          <a:prstGeom prst="roundRect">
            <a:avLst>
              <a:gd name="adj" fmla="val 769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500" b="1" dirty="0">
                <a:solidFill>
                  <a:schemeClr val="bg1"/>
                </a:solidFill>
              </a:rPr>
              <a:t>Allocate 4,000,000 bytes</a:t>
            </a:r>
            <a:endParaRPr lang="en-US" sz="1500" dirty="0"/>
          </a:p>
        </p:txBody>
      </p:sp>
      <p:sp>
        <p:nvSpPr>
          <p:cNvPr id="5" name="Memory arrow 1"/>
          <p:cNvSpPr/>
          <p:nvPr/>
        </p:nvSpPr>
        <p:spPr>
          <a:xfrm>
            <a:off x="3063240" y="2057400"/>
            <a:ext cx="320040" cy="0"/>
          </a:xfrm>
          <a:prstGeom prst="line">
            <a:avLst/>
          </a:prstGeom>
          <a:noFill/>
          <a:ln w="25400">
            <a:solidFill>
              <a:schemeClr val="accent2"/>
            </a:solidFill>
            <a:prstDash val="solid"/>
            <a:tailEnd type="triangle"/>
          </a:ln>
        </p:spPr>
      </p:sp>
      <p:sp>
        <p:nvSpPr>
          <p:cNvPr id="6" name="Memory step 2"/>
          <p:cNvSpPr txBox="1"/>
          <p:nvPr/>
        </p:nvSpPr>
        <p:spPr>
          <a:xfrm>
            <a:off x="3383280" y="1463040"/>
            <a:ext cx="2514600" cy="1188720"/>
          </a:xfrm>
          <a:prstGeom prst="roundRect">
            <a:avLst>
              <a:gd name="adj" fmla="val 769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500" b="1" dirty="0">
                <a:solidFill>
                  <a:schemeClr val="bg1"/>
                </a:solidFill>
              </a:rPr>
              <a:t>Initialize the memory block</a:t>
            </a:r>
            <a:endParaRPr lang="en-US" sz="1500" dirty="0"/>
          </a:p>
        </p:txBody>
      </p:sp>
      <p:sp>
        <p:nvSpPr>
          <p:cNvPr id="7" name="Memory arrow 2"/>
          <p:cNvSpPr/>
          <p:nvPr/>
        </p:nvSpPr>
        <p:spPr>
          <a:xfrm>
            <a:off x="5897880" y="2057400"/>
            <a:ext cx="320040" cy="0"/>
          </a:xfrm>
          <a:prstGeom prst="line">
            <a:avLst/>
          </a:prstGeom>
          <a:noFill/>
          <a:ln w="25400">
            <a:solidFill>
              <a:schemeClr val="accent2"/>
            </a:solidFill>
            <a:prstDash val="solid"/>
            <a:tailEnd type="triangle"/>
          </a:ln>
        </p:spPr>
      </p:sp>
      <p:sp>
        <p:nvSpPr>
          <p:cNvPr id="8" name="Memory step 3"/>
          <p:cNvSpPr txBox="1"/>
          <p:nvPr/>
        </p:nvSpPr>
        <p:spPr>
          <a:xfrm>
            <a:off x="6217920" y="1463040"/>
            <a:ext cx="2514600" cy="1188720"/>
          </a:xfrm>
          <a:prstGeom prst="roundRect">
            <a:avLst>
              <a:gd name="adj" fmla="val 7692"/>
            </a:avLst>
          </a:prstGeom>
          <a:solidFill>
            <a:schemeClr val="accent1"/>
          </a:solidFill>
          <a:ln w="12700">
            <a:solidFill>
              <a:schemeClr val="accent1"/>
            </a:solidFill>
          </a:ln>
        </p:spPr>
        <p:txBody>
          <a:bodyPr wrap="square" lIns="1016" tIns="1016" rIns="1016" bIns="1016" rtlCol="0" anchor="ctr"/>
          <a:lstStyle/>
          <a:p>
            <a:pPr marL="0" indent="0" algn="ctr">
              <a:buNone/>
            </a:pPr>
            <a:r>
              <a:rPr lang="en-US" sz="1500" b="1" dirty="0">
                <a:solidFill>
                  <a:schemeClr val="bg1"/>
                </a:solidFill>
              </a:rPr>
              <a:t>Stop timer (allocation + initialization)</a:t>
            </a:r>
            <a:endParaRPr lang="en-US" sz="1500" dirty="0"/>
          </a:p>
        </p:txBody>
      </p:sp>
      <p:sp>
        <p:nvSpPr>
          <p:cNvPr id="9" name="Memory arrow 3"/>
          <p:cNvSpPr/>
          <p:nvPr/>
        </p:nvSpPr>
        <p:spPr>
          <a:xfrm>
            <a:off x="8732520" y="2057400"/>
            <a:ext cx="320040" cy="0"/>
          </a:xfrm>
          <a:prstGeom prst="line">
            <a:avLst/>
          </a:prstGeom>
          <a:noFill/>
          <a:ln w="25400">
            <a:solidFill>
              <a:schemeClr val="accent2"/>
            </a:solidFill>
            <a:prstDash val="solid"/>
            <a:tailEnd type="triangle"/>
          </a:ln>
        </p:spPr>
      </p:sp>
      <p:sp>
        <p:nvSpPr>
          <p:cNvPr id="10" name="Memory step 4"/>
          <p:cNvSpPr txBox="1"/>
          <p:nvPr/>
        </p:nvSpPr>
        <p:spPr>
          <a:xfrm>
            <a:off x="9052560" y="1463040"/>
            <a:ext cx="2514600" cy="1188720"/>
          </a:xfrm>
          <a:prstGeom prst="roundRect">
            <a:avLst>
              <a:gd name="adj" fmla="val 769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500" b="1" dirty="0">
                <a:solidFill>
                  <a:schemeClr val="bg1"/>
                </a:solidFill>
              </a:rPr>
              <a:t>Release the memory</a:t>
            </a:r>
            <a:endParaRPr lang="en-US" sz="1500" dirty="0"/>
          </a:p>
        </p:txBody>
      </p:sp>
      <p:sp>
        <p:nvSpPr>
          <p:cNvPr id="11" name="Terminal window"/>
          <p:cNvSpPr/>
          <p:nvPr/>
        </p:nvSpPr>
        <p:spPr>
          <a:xfrm>
            <a:off x="548640" y="2971800"/>
            <a:ext cx="6035040" cy="2377440"/>
          </a:xfrm>
          <a:prstGeom prst="roundRect">
            <a:avLst>
              <a:gd name="adj" fmla="val 3846"/>
            </a:avLst>
          </a:prstGeom>
          <a:solidFill>
            <a:schemeClr val="tx1"/>
          </a:solidFill>
          <a:ln w="15875">
            <a:solidFill>
              <a:schemeClr val="accent5"/>
            </a:solidFill>
            <a:prstDash val="solid"/>
          </a:ln>
        </p:spPr>
      </p:sp>
      <p:sp>
        <p:nvSpPr>
          <p:cNvPr id="12" name="Window dot 1"/>
          <p:cNvSpPr/>
          <p:nvPr/>
        </p:nvSpPr>
        <p:spPr>
          <a:xfrm>
            <a:off x="749808" y="3127248"/>
            <a:ext cx="118872" cy="118872"/>
          </a:xfrm>
          <a:prstGeom prst="ellipse">
            <a:avLst/>
          </a:prstGeom>
          <a:solidFill>
            <a:schemeClr val="accent4">
              <a:alpha val="60000"/>
            </a:schemeClr>
          </a:solidFill>
          <a:ln w="12700">
            <a:solidFill>
              <a:schemeClr val="accent4">
                <a:alpha val="0"/>
              </a:schemeClr>
            </a:solidFill>
            <a:prstDash val="solid"/>
          </a:ln>
        </p:spPr>
      </p:sp>
      <p:sp>
        <p:nvSpPr>
          <p:cNvPr id="13" name="Window dot 2"/>
          <p:cNvSpPr/>
          <p:nvPr/>
        </p:nvSpPr>
        <p:spPr>
          <a:xfrm>
            <a:off x="969264" y="3127248"/>
            <a:ext cx="118872" cy="118872"/>
          </a:xfrm>
          <a:prstGeom prst="ellipse">
            <a:avLst/>
          </a:prstGeom>
          <a:solidFill>
            <a:schemeClr val="accent4">
              <a:alpha val="60000"/>
            </a:schemeClr>
          </a:solidFill>
          <a:ln w="12700">
            <a:solidFill>
              <a:schemeClr val="accent4">
                <a:alpha val="0"/>
              </a:schemeClr>
            </a:solidFill>
            <a:prstDash val="solid"/>
          </a:ln>
        </p:spPr>
      </p:sp>
      <p:sp>
        <p:nvSpPr>
          <p:cNvPr id="14" name="Window dot 3"/>
          <p:cNvSpPr/>
          <p:nvPr/>
        </p:nvSpPr>
        <p:spPr>
          <a:xfrm>
            <a:off x="1188720" y="3127248"/>
            <a:ext cx="118872" cy="118872"/>
          </a:xfrm>
          <a:prstGeom prst="ellipse">
            <a:avLst/>
          </a:prstGeom>
          <a:solidFill>
            <a:schemeClr val="accent4">
              <a:alpha val="60000"/>
            </a:schemeClr>
          </a:solidFill>
          <a:ln w="12700">
            <a:solidFill>
              <a:schemeClr val="accent4">
                <a:alpha val="0"/>
              </a:schemeClr>
            </a:solidFill>
            <a:prstDash val="solid"/>
          </a:ln>
        </p:spPr>
      </p:sp>
      <p:sp>
        <p:nvSpPr>
          <p:cNvPr id="15" name="Text 12"/>
          <p:cNvSpPr txBox="1"/>
          <p:nvPr/>
        </p:nvSpPr>
        <p:spPr>
          <a:xfrm>
            <a:off x="1554480" y="3063240"/>
            <a:ext cx="4846320" cy="274320"/>
          </a:xfrm>
          <a:prstGeom prst="rect">
            <a:avLst/>
          </a:prstGeom>
          <a:noFill/>
          <a:ln/>
        </p:spPr>
        <p:txBody>
          <a:bodyPr wrap="square" lIns="0" tIns="0" rIns="0" bIns="0" rtlCol="0" anchor="ctr"/>
          <a:lstStyle/>
          <a:p>
            <a:pPr marL="0" indent="0" algn="l">
              <a:buNone/>
            </a:pPr>
            <a:r>
              <a:rPr lang="en-US" sz="1100" dirty="0">
                <a:solidFill>
                  <a:schemeClr val="accent4"/>
                </a:solidFill>
                <a:latin typeface="Courier New" pitchFamily="34" charset="0"/>
                <a:ea typeface="Courier New" pitchFamily="34" charset="-122"/>
                <a:cs typeface="Courier New" pitchFamily="34" charset="-120"/>
              </a:rPr>
              <a:t>memory benchmark (pseudocode)</a:t>
            </a:r>
            <a:endParaRPr lang="en-US" sz="1100" dirty="0"/>
          </a:p>
        </p:txBody>
      </p:sp>
      <p:sp>
        <p:nvSpPr>
          <p:cNvPr id="16" name="Text 13"/>
          <p:cNvSpPr txBox="1"/>
          <p:nvPr/>
        </p:nvSpPr>
        <p:spPr>
          <a:xfrm>
            <a:off x="822960" y="3538728"/>
            <a:ext cx="5486400" cy="1645920"/>
          </a:xfrm>
          <a:prstGeom prst="rect">
            <a:avLst/>
          </a:prstGeom>
          <a:noFill/>
          <a:ln/>
        </p:spPr>
        <p:txBody>
          <a:bodyPr wrap="square" lIns="0" tIns="0" rIns="0" bIns="0" rtlCol="0" anchor="t"/>
          <a:lstStyle/>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start</a:t>
            </a:r>
            <a:r>
              <a:rPr lang="en-US" sz="1500" dirty="0">
                <a:solidFill>
                  <a:schemeClr val="bg1"/>
                </a:solidFill>
                <a:latin typeface="Courier New" pitchFamily="34" charset="0"/>
                <a:ea typeface="Courier New" pitchFamily="34" charset="-122"/>
                <a:cs typeface="Courier New" pitchFamily="34" charset="-120"/>
              </a:rPr>
              <a:t> = current_time()</a:t>
            </a:r>
            <a:endParaRPr lang="en-US" sz="1500" dirty="0"/>
          </a:p>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buf</a:t>
            </a:r>
            <a:r>
              <a:rPr lang="en-US" sz="1500" dirty="0">
                <a:solidFill>
                  <a:schemeClr val="bg1"/>
                </a:solidFill>
                <a:latin typeface="Courier New" pitchFamily="34" charset="0"/>
                <a:ea typeface="Courier New" pitchFamily="34" charset="-122"/>
                <a:cs typeface="Courier New" pitchFamily="34" charset="-120"/>
              </a:rPr>
              <a:t>   = allocate(4000000)</a:t>
            </a:r>
            <a:endParaRPr lang="en-US" sz="1500" dirty="0"/>
          </a:p>
          <a:p>
            <a:pPr marL="0" indent="0" algn="l">
              <a:spcAft>
                <a:spcPts val="400"/>
              </a:spcAft>
              <a:buNone/>
            </a:pPr>
            <a:r>
              <a:rPr lang="en-US" sz="1500" dirty="0">
                <a:solidFill>
                  <a:schemeClr val="bg1"/>
                </a:solidFill>
                <a:latin typeface="Courier New" pitchFamily="34" charset="0"/>
                <a:ea typeface="Courier New" pitchFamily="34" charset="-122"/>
                <a:cs typeface="Courier New" pitchFamily="34" charset="-120"/>
              </a:rPr>
              <a:t>initialize(buf)</a:t>
            </a:r>
            <a:endParaRPr lang="en-US" sz="1500" dirty="0"/>
          </a:p>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end</a:t>
            </a:r>
            <a:r>
              <a:rPr lang="en-US" sz="1500" dirty="0">
                <a:solidFill>
                  <a:schemeClr val="bg1"/>
                </a:solidFill>
                <a:latin typeface="Courier New" pitchFamily="34" charset="0"/>
                <a:ea typeface="Courier New" pitchFamily="34" charset="-122"/>
                <a:cs typeface="Courier New" pitchFamily="34" charset="-120"/>
              </a:rPr>
              <a:t>   = current_time()</a:t>
            </a:r>
            <a:endParaRPr lang="en-US" sz="1500" dirty="0"/>
          </a:p>
          <a:p>
            <a:pPr marL="0" indent="0" algn="l">
              <a:spcAft>
                <a:spcPts val="400"/>
              </a:spcAft>
              <a:buNone/>
            </a:pPr>
            <a:r>
              <a:rPr lang="en-US" sz="1500" dirty="0">
                <a:solidFill>
                  <a:schemeClr val="bg1"/>
                </a:solidFill>
                <a:latin typeface="Courier New" pitchFamily="34" charset="0"/>
                <a:ea typeface="Courier New" pitchFamily="34" charset="-122"/>
                <a:cs typeface="Courier New" pitchFamily="34" charset="-120"/>
              </a:rPr>
              <a:t>release(buf)</a:t>
            </a:r>
            <a:endParaRPr lang="en-US" sz="1500" dirty="0"/>
          </a:p>
        </p:txBody>
      </p:sp>
      <p:sp>
        <p:nvSpPr>
          <p:cNvPr id="17" name="Text 14"/>
          <p:cNvSpPr txBox="1"/>
          <p:nvPr/>
        </p:nvSpPr>
        <p:spPr>
          <a:xfrm>
            <a:off x="548640" y="5440680"/>
            <a:ext cx="6035040" cy="274320"/>
          </a:xfrm>
          <a:prstGeom prst="rect">
            <a:avLst/>
          </a:prstGeom>
          <a:noFill/>
          <a:ln/>
        </p:spPr>
        <p:txBody>
          <a:bodyPr wrap="square" lIns="0" tIns="0" rIns="0" bIns="0" rtlCol="0" anchor="t"/>
          <a:lstStyle/>
          <a:p>
            <a:pPr marL="0" indent="0" algn="l">
              <a:buNone/>
            </a:pPr>
            <a:r>
              <a:rPr lang="en-US" sz="1100" dirty="0">
                <a:solidFill>
                  <a:schemeClr val="accent4"/>
                </a:solidFill>
              </a:rPr>
              <a:t>Simplified pseudocode, not the exact source code</a:t>
            </a:r>
            <a:endParaRPr lang="en-US" sz="1100" dirty="0"/>
          </a:p>
        </p:txBody>
      </p:sp>
      <p:sp>
        <p:nvSpPr>
          <p:cNvPr id="18" name="Stat card: Average memory time (3 runs)"/>
          <p:cNvSpPr/>
          <p:nvPr/>
        </p:nvSpPr>
        <p:spPr>
          <a:xfrm>
            <a:off x="6949440" y="2971800"/>
            <a:ext cx="4690872" cy="1188720"/>
          </a:xfrm>
          <a:prstGeom prst="roundRect">
            <a:avLst>
              <a:gd name="adj" fmla="val 9231"/>
            </a:avLst>
          </a:prstGeom>
          <a:solidFill>
            <a:schemeClr val="tx2"/>
          </a:solidFill>
          <a:ln w="12700">
            <a:solidFill>
              <a:schemeClr val="accent5"/>
            </a:solidFill>
            <a:prstDash val="solid"/>
          </a:ln>
        </p:spPr>
      </p:sp>
      <p:sp>
        <p:nvSpPr>
          <p:cNvPr id="19" name="Text 16"/>
          <p:cNvSpPr txBox="1"/>
          <p:nvPr/>
        </p:nvSpPr>
        <p:spPr>
          <a:xfrm>
            <a:off x="7223760" y="3136392"/>
            <a:ext cx="4142232" cy="274320"/>
          </a:xfrm>
          <a:prstGeom prst="rect">
            <a:avLst/>
          </a:prstGeom>
          <a:noFill/>
          <a:ln/>
        </p:spPr>
        <p:txBody>
          <a:bodyPr wrap="square" lIns="0" tIns="0" rIns="0" bIns="0" rtlCol="0" anchor="t"/>
          <a:lstStyle/>
          <a:p>
            <a:pPr marL="0" indent="0" algn="l">
              <a:buNone/>
            </a:pPr>
            <a:r>
              <a:rPr lang="en-US" sz="1400" dirty="0">
                <a:solidFill>
                  <a:schemeClr val="accent4"/>
                </a:solidFill>
              </a:rPr>
              <a:t>Average memory time (3 runs)</a:t>
            </a:r>
            <a:endParaRPr lang="en-US" sz="1400" dirty="0"/>
          </a:p>
        </p:txBody>
      </p:sp>
      <p:sp>
        <p:nvSpPr>
          <p:cNvPr id="20" name="Text 17"/>
          <p:cNvSpPr txBox="1"/>
          <p:nvPr/>
        </p:nvSpPr>
        <p:spPr>
          <a:xfrm>
            <a:off x="7223760" y="3429000"/>
            <a:ext cx="4142232" cy="640080"/>
          </a:xfrm>
          <a:prstGeom prst="rect">
            <a:avLst/>
          </a:prstGeom>
          <a:noFill/>
          <a:ln/>
        </p:spPr>
        <p:txBody>
          <a:bodyPr wrap="square" lIns="0" tIns="0" rIns="0" bIns="0" rtlCol="0" anchor="ctr"/>
          <a:lstStyle/>
          <a:p>
            <a:pPr marL="0" indent="0" algn="l">
              <a:buNone/>
            </a:pPr>
            <a:r>
              <a:rPr lang="en-US" sz="3200" b="1" dirty="0">
                <a:solidFill>
                  <a:schemeClr val="accent2"/>
                </a:solidFill>
              </a:rPr>
              <a:t>0.002700 s</a:t>
            </a:r>
            <a:endParaRPr lang="en-US" sz="3200" dirty="0"/>
          </a:p>
        </p:txBody>
      </p:sp>
      <p:sp>
        <p:nvSpPr>
          <p:cNvPr id="21" name="Run times card"/>
          <p:cNvSpPr/>
          <p:nvPr/>
        </p:nvSpPr>
        <p:spPr>
          <a:xfrm>
            <a:off x="6949440" y="4297680"/>
            <a:ext cx="4690872" cy="868680"/>
          </a:xfrm>
          <a:prstGeom prst="roundRect">
            <a:avLst>
              <a:gd name="adj" fmla="val 12632"/>
            </a:avLst>
          </a:prstGeom>
          <a:solidFill>
            <a:schemeClr val="tx2"/>
          </a:solidFill>
          <a:ln w="12700">
            <a:solidFill>
              <a:schemeClr val="accent5"/>
            </a:solidFill>
            <a:prstDash val="solid"/>
          </a:ln>
        </p:spPr>
      </p:sp>
      <p:sp>
        <p:nvSpPr>
          <p:cNvPr id="22" name="Text 19"/>
          <p:cNvSpPr txBox="1"/>
          <p:nvPr/>
        </p:nvSpPr>
        <p:spPr>
          <a:xfrm>
            <a:off x="7178040" y="4297680"/>
            <a:ext cx="4297680" cy="868680"/>
          </a:xfrm>
          <a:prstGeom prst="rect">
            <a:avLst/>
          </a:prstGeom>
          <a:noFill/>
          <a:ln/>
        </p:spPr>
        <p:txBody>
          <a:bodyPr wrap="square" lIns="0" tIns="0" rIns="0" bIns="0" rtlCol="0" anchor="ctr"/>
          <a:lstStyle/>
          <a:p>
            <a:pPr marL="0" indent="0" algn="l">
              <a:buNone/>
            </a:pPr>
            <a:r>
              <a:rPr lang="en-US" sz="1300" dirty="0">
                <a:solidFill>
                  <a:schemeClr val="bg1"/>
                </a:solidFill>
                <a:latin typeface="Courier New" pitchFamily="34" charset="0"/>
                <a:ea typeface="Courier New" pitchFamily="34" charset="-122"/>
                <a:cs typeface="Courier New" pitchFamily="34" charset="-120"/>
              </a:rPr>
              <a:t>Runs (s):  0.003805 · 0.002748 · 0.001548</a:t>
            </a:r>
            <a:endParaRPr lang="en-US" sz="1300" dirty="0"/>
          </a:p>
        </p:txBody>
      </p:sp>
      <p:sp>
        <p:nvSpPr>
          <p:cNvPr id="23" name="Scope note card"/>
          <p:cNvSpPr/>
          <p:nvPr/>
        </p:nvSpPr>
        <p:spPr>
          <a:xfrm>
            <a:off x="6949440" y="5303520"/>
            <a:ext cx="4690872" cy="868680"/>
          </a:xfrm>
          <a:prstGeom prst="roundRect">
            <a:avLst>
              <a:gd name="adj" fmla="val 12632"/>
            </a:avLst>
          </a:prstGeom>
          <a:solidFill>
            <a:schemeClr val="tx2"/>
          </a:solidFill>
          <a:ln w="12700">
            <a:solidFill>
              <a:schemeClr val="accent1"/>
            </a:solidFill>
            <a:prstDash val="solid"/>
          </a:ln>
        </p:spPr>
      </p:sp>
      <p:sp>
        <p:nvSpPr>
          <p:cNvPr id="24" name="Text 21"/>
          <p:cNvSpPr txBox="1"/>
          <p:nvPr/>
        </p:nvSpPr>
        <p:spPr>
          <a:xfrm>
            <a:off x="7178040" y="5303520"/>
            <a:ext cx="4297680" cy="868680"/>
          </a:xfrm>
          <a:prstGeom prst="rect">
            <a:avLst/>
          </a:prstGeom>
          <a:noFill/>
          <a:ln/>
        </p:spPr>
        <p:txBody>
          <a:bodyPr wrap="square" lIns="0" tIns="0" rIns="0" bIns="0" rtlCol="0" anchor="ctr"/>
          <a:lstStyle/>
          <a:p>
            <a:pPr marL="0" indent="0" algn="l">
              <a:buNone/>
            </a:pPr>
            <a:r>
              <a:rPr lang="en-US" sz="1400" dirty="0">
                <a:solidFill>
                  <a:schemeClr val="bg1"/>
                </a:solidFill>
              </a:rPr>
              <a:t>Times allocation and initialization only, not total RAM usage.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File I/O Benchmark Implementation</a:t>
            </a:r>
            <a:endParaRPr lang="en-US" sz="3600" dirty="0"/>
          </a:p>
        </p:txBody>
      </p:sp>
      <p:sp>
        <p:nvSpPr>
          <p:cNvPr id="4" name="File step 1"/>
          <p:cNvSpPr txBox="1"/>
          <p:nvPr/>
        </p:nvSpPr>
        <p:spPr>
          <a:xfrm>
            <a:off x="548640" y="1463040"/>
            <a:ext cx="3200400" cy="1188720"/>
          </a:xfrm>
          <a:prstGeom prst="roundRect">
            <a:avLst>
              <a:gd name="adj" fmla="val 769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600" b="1" dirty="0">
                <a:solidFill>
                  <a:schemeClr val="bg1"/>
                </a:solidFill>
              </a:rPr>
              <a:t>Write test lines to a file</a:t>
            </a:r>
            <a:endParaRPr lang="en-US" sz="1600" dirty="0"/>
          </a:p>
        </p:txBody>
      </p:sp>
      <p:sp>
        <p:nvSpPr>
          <p:cNvPr id="5" name="File arrow 1"/>
          <p:cNvSpPr/>
          <p:nvPr/>
        </p:nvSpPr>
        <p:spPr>
          <a:xfrm>
            <a:off x="3749040" y="2057400"/>
            <a:ext cx="608076" cy="0"/>
          </a:xfrm>
          <a:prstGeom prst="line">
            <a:avLst/>
          </a:prstGeom>
          <a:noFill/>
          <a:ln w="25400">
            <a:solidFill>
              <a:schemeClr val="accent2"/>
            </a:solidFill>
            <a:prstDash val="solid"/>
            <a:tailEnd type="triangle"/>
          </a:ln>
        </p:spPr>
      </p:sp>
      <p:sp>
        <p:nvSpPr>
          <p:cNvPr id="6" name="File step 2"/>
          <p:cNvSpPr txBox="1"/>
          <p:nvPr/>
        </p:nvSpPr>
        <p:spPr>
          <a:xfrm>
            <a:off x="4357116" y="1463040"/>
            <a:ext cx="3200400" cy="1188720"/>
          </a:xfrm>
          <a:prstGeom prst="roundRect">
            <a:avLst>
              <a:gd name="adj" fmla="val 7692"/>
            </a:avLst>
          </a:prstGeom>
          <a:solidFill>
            <a:schemeClr val="accent5"/>
          </a:solidFill>
          <a:ln w="12700">
            <a:solidFill>
              <a:schemeClr val="accent1"/>
            </a:solidFill>
          </a:ln>
        </p:spPr>
        <p:txBody>
          <a:bodyPr wrap="square" lIns="1016" tIns="1016" rIns="1016" bIns="1016" rtlCol="0" anchor="ctr"/>
          <a:lstStyle/>
          <a:p>
            <a:pPr marL="0" indent="0" algn="ctr">
              <a:buNone/>
            </a:pPr>
            <a:r>
              <a:rPr lang="en-US" sz="1600" b="1" dirty="0">
                <a:solidFill>
                  <a:schemeClr val="bg1"/>
                </a:solidFill>
              </a:rPr>
              <a:t>Read 50,000 lines from the file</a:t>
            </a:r>
            <a:endParaRPr lang="en-US" sz="1600" dirty="0"/>
          </a:p>
        </p:txBody>
      </p:sp>
      <p:sp>
        <p:nvSpPr>
          <p:cNvPr id="7" name="File arrow 2"/>
          <p:cNvSpPr/>
          <p:nvPr/>
        </p:nvSpPr>
        <p:spPr>
          <a:xfrm>
            <a:off x="7557516" y="2057400"/>
            <a:ext cx="608076" cy="0"/>
          </a:xfrm>
          <a:prstGeom prst="line">
            <a:avLst/>
          </a:prstGeom>
          <a:noFill/>
          <a:ln w="25400">
            <a:solidFill>
              <a:schemeClr val="accent2"/>
            </a:solidFill>
            <a:prstDash val="solid"/>
            <a:tailEnd type="triangle"/>
          </a:ln>
        </p:spPr>
      </p:sp>
      <p:sp>
        <p:nvSpPr>
          <p:cNvPr id="8" name="File step 3"/>
          <p:cNvSpPr txBox="1"/>
          <p:nvPr/>
        </p:nvSpPr>
        <p:spPr>
          <a:xfrm>
            <a:off x="8165592" y="1463040"/>
            <a:ext cx="3200400" cy="1188720"/>
          </a:xfrm>
          <a:prstGeom prst="roundRect">
            <a:avLst>
              <a:gd name="adj" fmla="val 7692"/>
            </a:avLst>
          </a:prstGeom>
          <a:solidFill>
            <a:schemeClr val="accent1"/>
          </a:solidFill>
          <a:ln w="12700">
            <a:solidFill>
              <a:schemeClr val="accent1"/>
            </a:solidFill>
          </a:ln>
        </p:spPr>
        <p:txBody>
          <a:bodyPr wrap="square" lIns="1016" tIns="1016" rIns="1016" bIns="1016" rtlCol="0" anchor="ctr"/>
          <a:lstStyle/>
          <a:p>
            <a:pPr marL="0" indent="0" algn="ctr">
              <a:buNone/>
            </a:pPr>
            <a:r>
              <a:rPr lang="en-US" sz="1600" b="1" dirty="0">
                <a:solidFill>
                  <a:schemeClr val="bg1"/>
                </a:solidFill>
              </a:rPr>
              <a:t>Stop timer: total I/O time</a:t>
            </a:r>
            <a:endParaRPr lang="en-US" sz="1600" dirty="0"/>
          </a:p>
        </p:txBody>
      </p:sp>
      <p:sp>
        <p:nvSpPr>
          <p:cNvPr id="9" name="Terminal window"/>
          <p:cNvSpPr/>
          <p:nvPr/>
        </p:nvSpPr>
        <p:spPr>
          <a:xfrm>
            <a:off x="548640" y="2971800"/>
            <a:ext cx="6035040" cy="2377440"/>
          </a:xfrm>
          <a:prstGeom prst="roundRect">
            <a:avLst>
              <a:gd name="adj" fmla="val 3846"/>
            </a:avLst>
          </a:prstGeom>
          <a:solidFill>
            <a:schemeClr val="tx1"/>
          </a:solidFill>
          <a:ln w="15875">
            <a:solidFill>
              <a:schemeClr val="accent5"/>
            </a:solidFill>
            <a:prstDash val="solid"/>
          </a:ln>
        </p:spPr>
      </p:sp>
      <p:sp>
        <p:nvSpPr>
          <p:cNvPr id="10" name="Window dot 1"/>
          <p:cNvSpPr/>
          <p:nvPr/>
        </p:nvSpPr>
        <p:spPr>
          <a:xfrm>
            <a:off x="749808" y="3127248"/>
            <a:ext cx="118872" cy="118872"/>
          </a:xfrm>
          <a:prstGeom prst="ellipse">
            <a:avLst/>
          </a:prstGeom>
          <a:solidFill>
            <a:schemeClr val="accent4">
              <a:alpha val="60000"/>
            </a:schemeClr>
          </a:solidFill>
          <a:ln w="12700">
            <a:solidFill>
              <a:schemeClr val="accent4">
                <a:alpha val="0"/>
              </a:schemeClr>
            </a:solidFill>
            <a:prstDash val="solid"/>
          </a:ln>
        </p:spPr>
      </p:sp>
      <p:sp>
        <p:nvSpPr>
          <p:cNvPr id="11" name="Window dot 2"/>
          <p:cNvSpPr/>
          <p:nvPr/>
        </p:nvSpPr>
        <p:spPr>
          <a:xfrm>
            <a:off x="969264" y="3127248"/>
            <a:ext cx="118872" cy="118872"/>
          </a:xfrm>
          <a:prstGeom prst="ellipse">
            <a:avLst/>
          </a:prstGeom>
          <a:solidFill>
            <a:schemeClr val="accent4">
              <a:alpha val="60000"/>
            </a:schemeClr>
          </a:solidFill>
          <a:ln w="12700">
            <a:solidFill>
              <a:schemeClr val="accent4">
                <a:alpha val="0"/>
              </a:schemeClr>
            </a:solidFill>
            <a:prstDash val="solid"/>
          </a:ln>
        </p:spPr>
      </p:sp>
      <p:sp>
        <p:nvSpPr>
          <p:cNvPr id="12" name="Window dot 3"/>
          <p:cNvSpPr/>
          <p:nvPr/>
        </p:nvSpPr>
        <p:spPr>
          <a:xfrm>
            <a:off x="1188720" y="3127248"/>
            <a:ext cx="118872" cy="118872"/>
          </a:xfrm>
          <a:prstGeom prst="ellipse">
            <a:avLst/>
          </a:prstGeom>
          <a:solidFill>
            <a:schemeClr val="accent4">
              <a:alpha val="60000"/>
            </a:schemeClr>
          </a:solidFill>
          <a:ln w="12700">
            <a:solidFill>
              <a:schemeClr val="accent4">
                <a:alpha val="0"/>
              </a:schemeClr>
            </a:solidFill>
            <a:prstDash val="solid"/>
          </a:ln>
        </p:spPr>
      </p:sp>
      <p:sp>
        <p:nvSpPr>
          <p:cNvPr id="13" name="Text 10"/>
          <p:cNvSpPr txBox="1"/>
          <p:nvPr/>
        </p:nvSpPr>
        <p:spPr>
          <a:xfrm>
            <a:off x="1554480" y="3063240"/>
            <a:ext cx="4846320" cy="274320"/>
          </a:xfrm>
          <a:prstGeom prst="rect">
            <a:avLst/>
          </a:prstGeom>
          <a:noFill/>
          <a:ln/>
        </p:spPr>
        <p:txBody>
          <a:bodyPr wrap="square" lIns="0" tIns="0" rIns="0" bIns="0" rtlCol="0" anchor="ctr"/>
          <a:lstStyle/>
          <a:p>
            <a:pPr marL="0" indent="0" algn="l">
              <a:buNone/>
            </a:pPr>
            <a:r>
              <a:rPr lang="en-US" sz="1100" dirty="0">
                <a:solidFill>
                  <a:schemeClr val="accent4"/>
                </a:solidFill>
                <a:latin typeface="Courier New" pitchFamily="34" charset="0"/>
                <a:ea typeface="Courier New" pitchFamily="34" charset="-122"/>
                <a:cs typeface="Courier New" pitchFamily="34" charset="-120"/>
              </a:rPr>
              <a:t>file I/O benchmark (pseudocode)</a:t>
            </a:r>
            <a:endParaRPr lang="en-US" sz="1100" dirty="0"/>
          </a:p>
        </p:txBody>
      </p:sp>
      <p:sp>
        <p:nvSpPr>
          <p:cNvPr id="14" name="Text 11"/>
          <p:cNvSpPr txBox="1"/>
          <p:nvPr/>
        </p:nvSpPr>
        <p:spPr>
          <a:xfrm>
            <a:off x="822960" y="3538728"/>
            <a:ext cx="5486400" cy="1645920"/>
          </a:xfrm>
          <a:prstGeom prst="rect">
            <a:avLst/>
          </a:prstGeom>
          <a:noFill/>
          <a:ln/>
        </p:spPr>
        <p:txBody>
          <a:bodyPr wrap="square" lIns="0" tIns="0" rIns="0" bIns="0" rtlCol="0" anchor="t"/>
          <a:lstStyle/>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start</a:t>
            </a:r>
            <a:r>
              <a:rPr lang="en-US" sz="1500" dirty="0">
                <a:solidFill>
                  <a:schemeClr val="bg1"/>
                </a:solidFill>
                <a:latin typeface="Courier New" pitchFamily="34" charset="0"/>
                <a:ea typeface="Courier New" pitchFamily="34" charset="-122"/>
                <a:cs typeface="Courier New" pitchFamily="34" charset="-120"/>
              </a:rPr>
              <a:t> = current_time()</a:t>
            </a:r>
            <a:endParaRPr lang="en-US" sz="1500" dirty="0"/>
          </a:p>
          <a:p>
            <a:pPr marL="0" indent="0" algn="l">
              <a:spcAft>
                <a:spcPts val="400"/>
              </a:spcAft>
              <a:buNone/>
            </a:pPr>
            <a:r>
              <a:rPr lang="en-US" sz="1500" dirty="0">
                <a:solidFill>
                  <a:schemeClr val="bg1"/>
                </a:solidFill>
                <a:latin typeface="Courier New" pitchFamily="34" charset="0"/>
                <a:ea typeface="Courier New" pitchFamily="34" charset="-122"/>
                <a:cs typeface="Courier New" pitchFamily="34" charset="-120"/>
              </a:rPr>
              <a:t>write_test_file()</a:t>
            </a:r>
            <a:endParaRPr lang="en-US" sz="1500" dirty="0"/>
          </a:p>
          <a:p>
            <a:pPr marL="0" indent="0" algn="l">
              <a:spcAft>
                <a:spcPts val="400"/>
              </a:spcAft>
              <a:buNone/>
            </a:pPr>
            <a:r>
              <a:rPr lang="en-US" sz="1500" dirty="0">
                <a:solidFill>
                  <a:schemeClr val="bg1"/>
                </a:solidFill>
                <a:latin typeface="Courier New" pitchFamily="34" charset="0"/>
                <a:ea typeface="Courier New" pitchFamily="34" charset="-122"/>
                <a:cs typeface="Courier New" pitchFamily="34" charset="-120"/>
              </a:rPr>
              <a:t>read_lines(50000)</a:t>
            </a:r>
            <a:endParaRPr lang="en-US" sz="1500" dirty="0"/>
          </a:p>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end</a:t>
            </a:r>
            <a:r>
              <a:rPr lang="en-US" sz="1500" dirty="0">
                <a:solidFill>
                  <a:schemeClr val="bg1"/>
                </a:solidFill>
                <a:latin typeface="Courier New" pitchFamily="34" charset="0"/>
                <a:ea typeface="Courier New" pitchFamily="34" charset="-122"/>
                <a:cs typeface="Courier New" pitchFamily="34" charset="-120"/>
              </a:rPr>
              <a:t>   = current_time()</a:t>
            </a:r>
            <a:endParaRPr lang="en-US" sz="1500" dirty="0"/>
          </a:p>
          <a:p>
            <a:pPr marL="0" indent="0" algn="l">
              <a:spcAft>
                <a:spcPts val="400"/>
              </a:spcAft>
              <a:buNone/>
            </a:pPr>
            <a:r>
              <a:rPr lang="en-US" sz="1500" dirty="0">
                <a:solidFill>
                  <a:schemeClr val="accent2"/>
                </a:solidFill>
                <a:latin typeface="Courier New" pitchFamily="34" charset="0"/>
                <a:ea typeface="Courier New" pitchFamily="34" charset="-122"/>
                <a:cs typeface="Courier New" pitchFamily="34" charset="-120"/>
              </a:rPr>
              <a:t>elapsed</a:t>
            </a:r>
            <a:r>
              <a:rPr lang="en-US" sz="1500" dirty="0">
                <a:solidFill>
                  <a:schemeClr val="bg1"/>
                </a:solidFill>
                <a:latin typeface="Courier New" pitchFamily="34" charset="0"/>
                <a:ea typeface="Courier New" pitchFamily="34" charset="-122"/>
                <a:cs typeface="Courier New" pitchFamily="34" charset="-120"/>
              </a:rPr>
              <a:t> = end - start</a:t>
            </a:r>
            <a:endParaRPr lang="en-US" sz="1500" dirty="0"/>
          </a:p>
        </p:txBody>
      </p:sp>
      <p:sp>
        <p:nvSpPr>
          <p:cNvPr id="15" name="Text 12"/>
          <p:cNvSpPr txBox="1"/>
          <p:nvPr/>
        </p:nvSpPr>
        <p:spPr>
          <a:xfrm>
            <a:off x="548640" y="5440680"/>
            <a:ext cx="6035040" cy="274320"/>
          </a:xfrm>
          <a:prstGeom prst="rect">
            <a:avLst/>
          </a:prstGeom>
          <a:noFill/>
          <a:ln/>
        </p:spPr>
        <p:txBody>
          <a:bodyPr wrap="square" lIns="0" tIns="0" rIns="0" bIns="0" rtlCol="0" anchor="t"/>
          <a:lstStyle/>
          <a:p>
            <a:pPr marL="0" indent="0" algn="l">
              <a:buNone/>
            </a:pPr>
            <a:r>
              <a:rPr lang="en-US" sz="1100" dirty="0">
                <a:solidFill>
                  <a:schemeClr val="accent4"/>
                </a:solidFill>
              </a:rPr>
              <a:t>Simplified pseudocode, not the exact source code</a:t>
            </a:r>
            <a:endParaRPr lang="en-US" sz="1100" dirty="0"/>
          </a:p>
        </p:txBody>
      </p:sp>
      <p:sp>
        <p:nvSpPr>
          <p:cNvPr id="16" name="Stat card: Average file I/O time (3 runs)"/>
          <p:cNvSpPr/>
          <p:nvPr/>
        </p:nvSpPr>
        <p:spPr>
          <a:xfrm>
            <a:off x="6949440" y="2971800"/>
            <a:ext cx="4690872" cy="1188720"/>
          </a:xfrm>
          <a:prstGeom prst="roundRect">
            <a:avLst>
              <a:gd name="adj" fmla="val 9231"/>
            </a:avLst>
          </a:prstGeom>
          <a:solidFill>
            <a:schemeClr val="tx2"/>
          </a:solidFill>
          <a:ln w="12700">
            <a:solidFill>
              <a:schemeClr val="accent5"/>
            </a:solidFill>
            <a:prstDash val="solid"/>
          </a:ln>
        </p:spPr>
      </p:sp>
      <p:sp>
        <p:nvSpPr>
          <p:cNvPr id="17" name="Text 14"/>
          <p:cNvSpPr txBox="1"/>
          <p:nvPr/>
        </p:nvSpPr>
        <p:spPr>
          <a:xfrm>
            <a:off x="7223760" y="3136392"/>
            <a:ext cx="4142232" cy="274320"/>
          </a:xfrm>
          <a:prstGeom prst="rect">
            <a:avLst/>
          </a:prstGeom>
          <a:noFill/>
          <a:ln/>
        </p:spPr>
        <p:txBody>
          <a:bodyPr wrap="square" lIns="0" tIns="0" rIns="0" bIns="0" rtlCol="0" anchor="t"/>
          <a:lstStyle/>
          <a:p>
            <a:pPr marL="0" indent="0" algn="l">
              <a:buNone/>
            </a:pPr>
            <a:r>
              <a:rPr lang="en-US" sz="1400" dirty="0">
                <a:solidFill>
                  <a:schemeClr val="accent4"/>
                </a:solidFill>
              </a:rPr>
              <a:t>Average file I/O time (3 runs)</a:t>
            </a:r>
            <a:endParaRPr lang="en-US" sz="1400" dirty="0"/>
          </a:p>
        </p:txBody>
      </p:sp>
      <p:sp>
        <p:nvSpPr>
          <p:cNvPr id="18" name="Text 15"/>
          <p:cNvSpPr txBox="1"/>
          <p:nvPr/>
        </p:nvSpPr>
        <p:spPr>
          <a:xfrm>
            <a:off x="7223760" y="3429000"/>
            <a:ext cx="4142232" cy="640080"/>
          </a:xfrm>
          <a:prstGeom prst="rect">
            <a:avLst/>
          </a:prstGeom>
          <a:noFill/>
          <a:ln/>
        </p:spPr>
        <p:txBody>
          <a:bodyPr wrap="square" lIns="0" tIns="0" rIns="0" bIns="0" rtlCol="0" anchor="ctr"/>
          <a:lstStyle/>
          <a:p>
            <a:pPr marL="0" indent="0" algn="l">
              <a:buNone/>
            </a:pPr>
            <a:r>
              <a:rPr lang="en-US" sz="3200" b="1" dirty="0">
                <a:solidFill>
                  <a:schemeClr val="accent2"/>
                </a:solidFill>
              </a:rPr>
              <a:t>0.007934 s</a:t>
            </a:r>
            <a:endParaRPr lang="en-US" sz="3200" dirty="0"/>
          </a:p>
        </p:txBody>
      </p:sp>
      <p:sp>
        <p:nvSpPr>
          <p:cNvPr id="19" name="Run times card"/>
          <p:cNvSpPr/>
          <p:nvPr/>
        </p:nvSpPr>
        <p:spPr>
          <a:xfrm>
            <a:off x="6949440" y="4297680"/>
            <a:ext cx="4690872" cy="868680"/>
          </a:xfrm>
          <a:prstGeom prst="roundRect">
            <a:avLst>
              <a:gd name="adj" fmla="val 12632"/>
            </a:avLst>
          </a:prstGeom>
          <a:solidFill>
            <a:schemeClr val="tx2"/>
          </a:solidFill>
          <a:ln w="12700">
            <a:solidFill>
              <a:schemeClr val="accent5"/>
            </a:solidFill>
            <a:prstDash val="solid"/>
          </a:ln>
        </p:spPr>
      </p:sp>
      <p:sp>
        <p:nvSpPr>
          <p:cNvPr id="20" name="Text 17"/>
          <p:cNvSpPr txBox="1"/>
          <p:nvPr/>
        </p:nvSpPr>
        <p:spPr>
          <a:xfrm>
            <a:off x="7178040" y="4297680"/>
            <a:ext cx="4297680" cy="868680"/>
          </a:xfrm>
          <a:prstGeom prst="rect">
            <a:avLst/>
          </a:prstGeom>
          <a:noFill/>
          <a:ln/>
        </p:spPr>
        <p:txBody>
          <a:bodyPr wrap="square" lIns="0" tIns="0" rIns="0" bIns="0" rtlCol="0" anchor="ctr"/>
          <a:lstStyle/>
          <a:p>
            <a:pPr marL="0" indent="0" algn="l">
              <a:buNone/>
            </a:pPr>
            <a:r>
              <a:rPr lang="en-US" sz="1300" dirty="0">
                <a:solidFill>
                  <a:schemeClr val="bg1"/>
                </a:solidFill>
                <a:latin typeface="Courier New" pitchFamily="34" charset="0"/>
                <a:ea typeface="Courier New" pitchFamily="34" charset="-122"/>
                <a:cs typeface="Courier New" pitchFamily="34" charset="-120"/>
              </a:rPr>
              <a:t>Runs (s):  0.010319 · 0.005726 · 0.007758</a:t>
            </a:r>
            <a:endParaRPr lang="en-US" sz="1300" dirty="0"/>
          </a:p>
        </p:txBody>
      </p:sp>
      <p:sp>
        <p:nvSpPr>
          <p:cNvPr id="21" name="Scope note card"/>
          <p:cNvSpPr/>
          <p:nvPr/>
        </p:nvSpPr>
        <p:spPr>
          <a:xfrm>
            <a:off x="6949440" y="5303520"/>
            <a:ext cx="4690872" cy="868680"/>
          </a:xfrm>
          <a:prstGeom prst="roundRect">
            <a:avLst>
              <a:gd name="adj" fmla="val 12632"/>
            </a:avLst>
          </a:prstGeom>
          <a:solidFill>
            <a:schemeClr val="tx2"/>
          </a:solidFill>
          <a:ln w="12700">
            <a:solidFill>
              <a:schemeClr val="accent1"/>
            </a:solidFill>
            <a:prstDash val="solid"/>
          </a:ln>
        </p:spPr>
      </p:sp>
      <p:sp>
        <p:nvSpPr>
          <p:cNvPr id="22" name="Text 19"/>
          <p:cNvSpPr txBox="1"/>
          <p:nvPr/>
        </p:nvSpPr>
        <p:spPr>
          <a:xfrm>
            <a:off x="7178040" y="5303520"/>
            <a:ext cx="4297680" cy="868680"/>
          </a:xfrm>
          <a:prstGeom prst="rect">
            <a:avLst/>
          </a:prstGeom>
          <a:noFill/>
          <a:ln/>
        </p:spPr>
        <p:txBody>
          <a:bodyPr wrap="square" lIns="0" tIns="0" rIns="0" bIns="0" rtlCol="0" anchor="ctr"/>
          <a:lstStyle/>
          <a:p>
            <a:pPr marL="0" indent="0" algn="l">
              <a:buNone/>
            </a:pPr>
            <a:r>
              <a:rPr lang="en-US" sz="1400" dirty="0">
                <a:solidFill>
                  <a:schemeClr val="bg1"/>
                </a:solidFill>
              </a:rPr>
              <a:t>Depends on the OS and storage; run-to-run variation is expected.</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Implementation and Execution</a:t>
            </a:r>
            <a:endParaRPr lang="en-US" sz="3600" dirty="0"/>
          </a:p>
        </p:txBody>
      </p:sp>
      <p:sp>
        <p:nvSpPr>
          <p:cNvPr id="4" name="Terminal window"/>
          <p:cNvSpPr/>
          <p:nvPr/>
        </p:nvSpPr>
        <p:spPr>
          <a:xfrm>
            <a:off x="548640" y="1508760"/>
            <a:ext cx="6675120" cy="2240280"/>
          </a:xfrm>
          <a:prstGeom prst="roundRect">
            <a:avLst>
              <a:gd name="adj" fmla="val 4082"/>
            </a:avLst>
          </a:prstGeom>
          <a:solidFill>
            <a:schemeClr val="tx1"/>
          </a:solidFill>
          <a:ln w="15875">
            <a:solidFill>
              <a:schemeClr val="accent5"/>
            </a:solidFill>
            <a:prstDash val="solid"/>
          </a:ln>
        </p:spPr>
      </p:sp>
      <p:sp>
        <p:nvSpPr>
          <p:cNvPr id="5" name="Window dot 1"/>
          <p:cNvSpPr/>
          <p:nvPr/>
        </p:nvSpPr>
        <p:spPr>
          <a:xfrm>
            <a:off x="749808" y="1664208"/>
            <a:ext cx="118872" cy="118872"/>
          </a:xfrm>
          <a:prstGeom prst="ellipse">
            <a:avLst/>
          </a:prstGeom>
          <a:solidFill>
            <a:schemeClr val="accent4">
              <a:alpha val="60000"/>
            </a:schemeClr>
          </a:solidFill>
          <a:ln w="12700">
            <a:solidFill>
              <a:schemeClr val="accent4">
                <a:alpha val="0"/>
              </a:schemeClr>
            </a:solidFill>
            <a:prstDash val="solid"/>
          </a:ln>
        </p:spPr>
      </p:sp>
      <p:sp>
        <p:nvSpPr>
          <p:cNvPr id="6" name="Window dot 2"/>
          <p:cNvSpPr/>
          <p:nvPr/>
        </p:nvSpPr>
        <p:spPr>
          <a:xfrm>
            <a:off x="969264" y="1664208"/>
            <a:ext cx="118872" cy="118872"/>
          </a:xfrm>
          <a:prstGeom prst="ellipse">
            <a:avLst/>
          </a:prstGeom>
          <a:solidFill>
            <a:schemeClr val="accent4">
              <a:alpha val="60000"/>
            </a:schemeClr>
          </a:solidFill>
          <a:ln w="12700">
            <a:solidFill>
              <a:schemeClr val="accent4">
                <a:alpha val="0"/>
              </a:schemeClr>
            </a:solidFill>
            <a:prstDash val="solid"/>
          </a:ln>
        </p:spPr>
      </p:sp>
      <p:sp>
        <p:nvSpPr>
          <p:cNvPr id="7" name="Window dot 3"/>
          <p:cNvSpPr/>
          <p:nvPr/>
        </p:nvSpPr>
        <p:spPr>
          <a:xfrm>
            <a:off x="1188720" y="1664208"/>
            <a:ext cx="118872" cy="118872"/>
          </a:xfrm>
          <a:prstGeom prst="ellipse">
            <a:avLst/>
          </a:prstGeom>
          <a:solidFill>
            <a:schemeClr val="accent4">
              <a:alpha val="60000"/>
            </a:schemeClr>
          </a:solidFill>
          <a:ln w="12700">
            <a:solidFill>
              <a:schemeClr val="accent4">
                <a:alpha val="0"/>
              </a:schemeClr>
            </a:solidFill>
            <a:prstDash val="solid"/>
          </a:ln>
        </p:spPr>
      </p:sp>
      <p:sp>
        <p:nvSpPr>
          <p:cNvPr id="8" name="Text 5"/>
          <p:cNvSpPr txBox="1"/>
          <p:nvPr/>
        </p:nvSpPr>
        <p:spPr>
          <a:xfrm>
            <a:off x="1554480" y="1600200"/>
            <a:ext cx="5486400" cy="274320"/>
          </a:xfrm>
          <a:prstGeom prst="rect">
            <a:avLst/>
          </a:prstGeom>
          <a:noFill/>
          <a:ln/>
        </p:spPr>
        <p:txBody>
          <a:bodyPr wrap="square" lIns="0" tIns="0" rIns="0" bIns="0" rtlCol="0" anchor="ctr"/>
          <a:lstStyle/>
          <a:p>
            <a:pPr marL="0" indent="0" algn="l">
              <a:buNone/>
            </a:pPr>
            <a:r>
              <a:rPr lang="en-US" sz="1100" dirty="0">
                <a:solidFill>
                  <a:schemeClr val="accent4"/>
                </a:solidFill>
                <a:latin typeface="Courier New" pitchFamily="34" charset="0"/>
                <a:ea typeface="Courier New" pitchFamily="34" charset="-122"/>
                <a:cs typeface="Courier New" pitchFamily="34" charset="-120"/>
              </a:rPr>
              <a:t>Ubuntu 24.04 on WSL2</a:t>
            </a:r>
            <a:endParaRPr lang="en-US" sz="1100" dirty="0"/>
          </a:p>
        </p:txBody>
      </p:sp>
      <p:sp>
        <p:nvSpPr>
          <p:cNvPr id="9" name="Text 6"/>
          <p:cNvSpPr txBox="1"/>
          <p:nvPr/>
        </p:nvSpPr>
        <p:spPr>
          <a:xfrm>
            <a:off x="822960" y="2075688"/>
            <a:ext cx="6126480" cy="1508760"/>
          </a:xfrm>
          <a:prstGeom prst="rect">
            <a:avLst/>
          </a:prstGeom>
          <a:noFill/>
          <a:ln/>
        </p:spPr>
        <p:txBody>
          <a:bodyPr wrap="square" lIns="0" tIns="0" rIns="0" bIns="0" rtlCol="0" anchor="t"/>
          <a:lstStyle/>
          <a:p>
            <a:pPr marL="0" indent="0" algn="l">
              <a:spcAft>
                <a:spcPts val="400"/>
              </a:spcAft>
              <a:buNone/>
            </a:pPr>
            <a:r>
              <a:rPr lang="en-US" sz="1400" dirty="0">
                <a:solidFill>
                  <a:schemeClr val="accent4"/>
                </a:solidFill>
                <a:latin typeface="Courier New" pitchFamily="34" charset="0"/>
                <a:ea typeface="Courier New" pitchFamily="34" charset="-122"/>
                <a:cs typeface="Courier New" pitchFamily="34" charset="-120"/>
              </a:rPr>
              <a:t># compile</a:t>
            </a:r>
            <a:endParaRPr lang="en-US" sz="1400" dirty="0"/>
          </a:p>
          <a:p>
            <a:pPr marL="0" indent="0" algn="l">
              <a:spcAft>
                <a:spcPts val="400"/>
              </a:spcAft>
              <a:buNone/>
            </a:pPr>
            <a:r>
              <a:rPr lang="en-US" sz="1400" dirty="0">
                <a:solidFill>
                  <a:schemeClr val="accent3"/>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gcc -std=c11 -Wall -Wextra benchmark.c -o benchmark</a:t>
            </a:r>
            <a:endParaRPr lang="en-US" sz="1400" dirty="0"/>
          </a:p>
          <a:p>
            <a:pPr marL="0" indent="0" algn="l">
              <a:spcAft>
                <a:spcPts val="400"/>
              </a:spcAft>
              <a:buNone/>
            </a:pPr>
            <a:r>
              <a:rPr lang="en-US" sz="1400" dirty="0">
                <a:solidFill>
                  <a:schemeClr val="accent4"/>
                </a:solidFill>
                <a:latin typeface="Courier New" pitchFamily="34" charset="0"/>
                <a:ea typeface="Courier New" pitchFamily="34" charset="-122"/>
                <a:cs typeface="Courier New" pitchFamily="34" charset="-120"/>
              </a:rPr>
              <a:t># run</a:t>
            </a:r>
            <a:endParaRPr lang="en-US" sz="1400" dirty="0"/>
          </a:p>
          <a:p>
            <a:pPr marL="0" indent="0" algn="l">
              <a:spcAft>
                <a:spcPts val="400"/>
              </a:spcAft>
              <a:buNone/>
            </a:pPr>
            <a:r>
              <a:rPr lang="en-US" sz="1400" dirty="0">
                <a:solidFill>
                  <a:schemeClr val="accent3"/>
                </a:solidFill>
                <a:latin typeface="Courier New" pitchFamily="34" charset="0"/>
                <a:ea typeface="Courier New" pitchFamily="34" charset="-122"/>
                <a:cs typeface="Courier New" pitchFamily="34" charset="-120"/>
              </a:rPr>
              <a:t>$ </a:t>
            </a:r>
            <a:r>
              <a:rPr lang="en-US" sz="1400" dirty="0">
                <a:solidFill>
                  <a:schemeClr val="bg1"/>
                </a:solidFill>
                <a:latin typeface="Courier New" pitchFamily="34" charset="0"/>
                <a:ea typeface="Courier New" pitchFamily="34" charset="-122"/>
                <a:cs typeface="Courier New" pitchFamily="34" charset="-120"/>
              </a:rPr>
              <a:t>./benchmark</a:t>
            </a:r>
            <a:endParaRPr lang="en-US" sz="1400" dirty="0"/>
          </a:p>
        </p:txBody>
      </p:sp>
      <p:sp>
        <p:nvSpPr>
          <p:cNvPr id="10" name="Text 7"/>
          <p:cNvSpPr txBox="1"/>
          <p:nvPr/>
        </p:nvSpPr>
        <p:spPr>
          <a:xfrm>
            <a:off x="548640" y="3977640"/>
            <a:ext cx="6400800" cy="320040"/>
          </a:xfrm>
          <a:prstGeom prst="rect">
            <a:avLst/>
          </a:prstGeom>
          <a:noFill/>
          <a:ln/>
        </p:spPr>
        <p:txBody>
          <a:bodyPr wrap="square" lIns="0" tIns="0" rIns="0" bIns="0" rtlCol="0" anchor="t"/>
          <a:lstStyle/>
          <a:p>
            <a:pPr marL="0" indent="0" algn="l">
              <a:buNone/>
            </a:pPr>
            <a:r>
              <a:rPr lang="en-US" sz="1600" b="1" dirty="0">
                <a:solidFill>
                  <a:schemeClr val="accent2"/>
                </a:solidFill>
              </a:rPr>
              <a:t>What the compile flags mean</a:t>
            </a:r>
            <a:endParaRPr lang="en-US" sz="1600" dirty="0"/>
          </a:p>
        </p:txBody>
      </p:sp>
      <p:sp>
        <p:nvSpPr>
          <p:cNvPr id="11" name="Text 8"/>
          <p:cNvSpPr txBox="1"/>
          <p:nvPr/>
        </p:nvSpPr>
        <p:spPr>
          <a:xfrm>
            <a:off x="548640" y="4434840"/>
            <a:ext cx="2194560" cy="411480"/>
          </a:xfrm>
          <a:prstGeom prst="rect">
            <a:avLst/>
          </a:prstGeom>
          <a:noFill/>
          <a:ln/>
        </p:spPr>
        <p:txBody>
          <a:bodyPr wrap="square" lIns="0" tIns="0" rIns="0" bIns="0" rtlCol="0" anchor="ctr"/>
          <a:lstStyle/>
          <a:p>
            <a:pPr marL="0" indent="0" algn="l">
              <a:buNone/>
            </a:pPr>
            <a:r>
              <a:rPr lang="en-US" sz="1400" dirty="0">
                <a:solidFill>
                  <a:schemeClr val="accent3"/>
                </a:solidFill>
                <a:latin typeface="Courier New" pitchFamily="34" charset="0"/>
                <a:ea typeface="Courier New" pitchFamily="34" charset="-122"/>
                <a:cs typeface="Courier New" pitchFamily="34" charset="-120"/>
              </a:rPr>
              <a:t>-std=c11</a:t>
            </a:r>
            <a:endParaRPr lang="en-US" sz="1400" dirty="0"/>
          </a:p>
        </p:txBody>
      </p:sp>
      <p:sp>
        <p:nvSpPr>
          <p:cNvPr id="12" name="Text 9"/>
          <p:cNvSpPr txBox="1"/>
          <p:nvPr/>
        </p:nvSpPr>
        <p:spPr>
          <a:xfrm>
            <a:off x="2834640" y="4434840"/>
            <a:ext cx="4389120" cy="411480"/>
          </a:xfrm>
          <a:prstGeom prst="rect">
            <a:avLst/>
          </a:prstGeom>
          <a:noFill/>
          <a:ln/>
        </p:spPr>
        <p:txBody>
          <a:bodyPr wrap="square" lIns="0" tIns="0" rIns="0" bIns="0" rtlCol="0" anchor="ctr"/>
          <a:lstStyle/>
          <a:p>
            <a:pPr marL="0" indent="0" algn="l">
              <a:buNone/>
            </a:pPr>
            <a:r>
              <a:rPr lang="en-US" sz="1500" dirty="0">
                <a:solidFill>
                  <a:schemeClr val="bg1"/>
                </a:solidFill>
              </a:rPr>
              <a:t>use the C11 language standard</a:t>
            </a:r>
            <a:endParaRPr lang="en-US" sz="1500" dirty="0"/>
          </a:p>
        </p:txBody>
      </p:sp>
      <p:sp>
        <p:nvSpPr>
          <p:cNvPr id="13" name="Text 10"/>
          <p:cNvSpPr txBox="1"/>
          <p:nvPr/>
        </p:nvSpPr>
        <p:spPr>
          <a:xfrm>
            <a:off x="548640" y="4983480"/>
            <a:ext cx="2194560" cy="411480"/>
          </a:xfrm>
          <a:prstGeom prst="rect">
            <a:avLst/>
          </a:prstGeom>
          <a:noFill/>
          <a:ln/>
        </p:spPr>
        <p:txBody>
          <a:bodyPr wrap="square" lIns="0" tIns="0" rIns="0" bIns="0" rtlCol="0" anchor="ctr"/>
          <a:lstStyle/>
          <a:p>
            <a:pPr marL="0" indent="0" algn="l">
              <a:buNone/>
            </a:pPr>
            <a:r>
              <a:rPr lang="en-US" sz="1400" dirty="0">
                <a:solidFill>
                  <a:schemeClr val="accent3"/>
                </a:solidFill>
                <a:latin typeface="Courier New" pitchFamily="34" charset="0"/>
                <a:ea typeface="Courier New" pitchFamily="34" charset="-122"/>
                <a:cs typeface="Courier New" pitchFamily="34" charset="-120"/>
              </a:rPr>
              <a:t>-Wall -Wextra</a:t>
            </a:r>
            <a:endParaRPr lang="en-US" sz="1400" dirty="0"/>
          </a:p>
        </p:txBody>
      </p:sp>
      <p:sp>
        <p:nvSpPr>
          <p:cNvPr id="14" name="Text 11"/>
          <p:cNvSpPr txBox="1"/>
          <p:nvPr/>
        </p:nvSpPr>
        <p:spPr>
          <a:xfrm>
            <a:off x="2834640" y="4983480"/>
            <a:ext cx="4389120" cy="411480"/>
          </a:xfrm>
          <a:prstGeom prst="rect">
            <a:avLst/>
          </a:prstGeom>
          <a:noFill/>
          <a:ln/>
        </p:spPr>
        <p:txBody>
          <a:bodyPr wrap="square" lIns="0" tIns="0" rIns="0" bIns="0" rtlCol="0" anchor="ctr"/>
          <a:lstStyle/>
          <a:p>
            <a:pPr marL="0" indent="0" algn="l">
              <a:buNone/>
            </a:pPr>
            <a:r>
              <a:rPr lang="en-US" sz="1500" dirty="0">
                <a:solidFill>
                  <a:schemeClr val="bg1"/>
                </a:solidFill>
              </a:rPr>
              <a:t>turn on extra compiler warnings</a:t>
            </a:r>
            <a:endParaRPr lang="en-US" sz="1500" dirty="0"/>
          </a:p>
        </p:txBody>
      </p:sp>
      <p:sp>
        <p:nvSpPr>
          <p:cNvPr id="15" name="Text 12"/>
          <p:cNvSpPr txBox="1"/>
          <p:nvPr/>
        </p:nvSpPr>
        <p:spPr>
          <a:xfrm>
            <a:off x="548640" y="5532120"/>
            <a:ext cx="2194560" cy="411480"/>
          </a:xfrm>
          <a:prstGeom prst="rect">
            <a:avLst/>
          </a:prstGeom>
          <a:noFill/>
          <a:ln/>
        </p:spPr>
        <p:txBody>
          <a:bodyPr wrap="square" lIns="0" tIns="0" rIns="0" bIns="0" rtlCol="0" anchor="ctr"/>
          <a:lstStyle/>
          <a:p>
            <a:pPr marL="0" indent="0" algn="l">
              <a:buNone/>
            </a:pPr>
            <a:r>
              <a:rPr lang="en-US" sz="1400" dirty="0">
                <a:solidFill>
                  <a:schemeClr val="accent3"/>
                </a:solidFill>
                <a:latin typeface="Courier New" pitchFamily="34" charset="0"/>
                <a:ea typeface="Courier New" pitchFamily="34" charset="-122"/>
                <a:cs typeface="Courier New" pitchFamily="34" charset="-120"/>
              </a:rPr>
              <a:t>-o benchmark</a:t>
            </a:r>
            <a:endParaRPr lang="en-US" sz="1400" dirty="0"/>
          </a:p>
        </p:txBody>
      </p:sp>
      <p:sp>
        <p:nvSpPr>
          <p:cNvPr id="16" name="Text 13"/>
          <p:cNvSpPr txBox="1"/>
          <p:nvPr/>
        </p:nvSpPr>
        <p:spPr>
          <a:xfrm>
            <a:off x="2834640" y="5532120"/>
            <a:ext cx="4389120" cy="411480"/>
          </a:xfrm>
          <a:prstGeom prst="rect">
            <a:avLst/>
          </a:prstGeom>
          <a:noFill/>
          <a:ln/>
        </p:spPr>
        <p:txBody>
          <a:bodyPr wrap="square" lIns="0" tIns="0" rIns="0" bIns="0" rtlCol="0" anchor="ctr"/>
          <a:lstStyle/>
          <a:p>
            <a:pPr marL="0" indent="0" algn="l">
              <a:buNone/>
            </a:pPr>
            <a:r>
              <a:rPr lang="en-US" sz="1500" dirty="0">
                <a:solidFill>
                  <a:schemeClr val="bg1"/>
                </a:solidFill>
              </a:rPr>
              <a:t>name the executable “benchmark”</a:t>
            </a:r>
            <a:endParaRPr lang="en-US" sz="1500" dirty="0"/>
          </a:p>
        </p:txBody>
      </p:sp>
      <p:sp>
        <p:nvSpPr>
          <p:cNvPr id="17" name="Menu options card"/>
          <p:cNvSpPr/>
          <p:nvPr/>
        </p:nvSpPr>
        <p:spPr>
          <a:xfrm>
            <a:off x="7589520" y="1508760"/>
            <a:ext cx="4050792" cy="4617720"/>
          </a:xfrm>
          <a:prstGeom prst="roundRect">
            <a:avLst>
              <a:gd name="adj" fmla="val 2709"/>
            </a:avLst>
          </a:prstGeom>
          <a:solidFill>
            <a:schemeClr val="tx2"/>
          </a:solidFill>
          <a:ln w="12700">
            <a:solidFill>
              <a:schemeClr val="accent5"/>
            </a:solidFill>
            <a:prstDash val="solid"/>
          </a:ln>
        </p:spPr>
      </p:sp>
      <p:sp>
        <p:nvSpPr>
          <p:cNvPr id="18" name="Text 15"/>
          <p:cNvSpPr txBox="1"/>
          <p:nvPr/>
        </p:nvSpPr>
        <p:spPr>
          <a:xfrm>
            <a:off x="7863840" y="1691640"/>
            <a:ext cx="3474720" cy="365760"/>
          </a:xfrm>
          <a:prstGeom prst="rect">
            <a:avLst/>
          </a:prstGeom>
          <a:noFill/>
          <a:ln/>
        </p:spPr>
        <p:txBody>
          <a:bodyPr wrap="square" lIns="0" tIns="0" rIns="0" bIns="0" rtlCol="0" anchor="t"/>
          <a:lstStyle/>
          <a:p>
            <a:pPr marL="0" indent="0" algn="l">
              <a:buNone/>
            </a:pPr>
            <a:r>
              <a:rPr lang="en-US" sz="1800" b="1" dirty="0">
                <a:solidFill>
                  <a:schemeClr val="bg1"/>
                </a:solidFill>
              </a:rPr>
              <a:t>Menu options</a:t>
            </a:r>
            <a:endParaRPr lang="en-US" sz="1800" dirty="0"/>
          </a:p>
        </p:txBody>
      </p:sp>
      <p:sp>
        <p:nvSpPr>
          <p:cNvPr id="19" name="Individual benchmarks card"/>
          <p:cNvSpPr/>
          <p:nvPr/>
        </p:nvSpPr>
        <p:spPr>
          <a:xfrm>
            <a:off x="7863840" y="2240280"/>
            <a:ext cx="3502152" cy="1783080"/>
          </a:xfrm>
          <a:prstGeom prst="roundRect">
            <a:avLst>
              <a:gd name="adj" fmla="val 6154"/>
            </a:avLst>
          </a:prstGeom>
          <a:solidFill>
            <a:schemeClr val="accent5"/>
          </a:solidFill>
          <a:ln w="12700">
            <a:solidFill>
              <a:schemeClr val="accent5"/>
            </a:solidFill>
            <a:prstDash val="solid"/>
          </a:ln>
        </p:spPr>
      </p:sp>
      <p:sp>
        <p:nvSpPr>
          <p:cNvPr id="20" name="Text 17"/>
          <p:cNvSpPr txBox="1"/>
          <p:nvPr/>
        </p:nvSpPr>
        <p:spPr>
          <a:xfrm>
            <a:off x="8092440" y="2377440"/>
            <a:ext cx="3108960" cy="320040"/>
          </a:xfrm>
          <a:prstGeom prst="rect">
            <a:avLst/>
          </a:prstGeom>
          <a:noFill/>
          <a:ln/>
        </p:spPr>
        <p:txBody>
          <a:bodyPr wrap="square" lIns="0" tIns="0" rIns="0" bIns="0" rtlCol="0" anchor="t"/>
          <a:lstStyle/>
          <a:p>
            <a:pPr marL="0" indent="0" algn="l">
              <a:buNone/>
            </a:pPr>
            <a:r>
              <a:rPr lang="en-US" sz="1600" b="1" dirty="0">
                <a:solidFill>
                  <a:schemeClr val="accent2"/>
                </a:solidFill>
              </a:rPr>
              <a:t>Individual benchmarks</a:t>
            </a:r>
            <a:endParaRPr lang="en-US" sz="1600" dirty="0"/>
          </a:p>
        </p:txBody>
      </p:sp>
      <p:sp>
        <p:nvSpPr>
          <p:cNvPr id="21" name="Text 18"/>
          <p:cNvSpPr txBox="1"/>
          <p:nvPr/>
        </p:nvSpPr>
        <p:spPr>
          <a:xfrm>
            <a:off x="8092440" y="2788920"/>
            <a:ext cx="3108960" cy="1143000"/>
          </a:xfrm>
          <a:prstGeom prst="rect">
            <a:avLst/>
          </a:prstGeom>
          <a:noFill/>
          <a:ln/>
        </p:spPr>
        <p:txBody>
          <a:bodyPr wrap="square" lIns="0" tIns="0" rIns="0" bIns="0" rtlCol="0" anchor="t"/>
          <a:lstStyle/>
          <a:p>
            <a:pPr marL="342900" indent="-342900" algn="l">
              <a:spcAft>
                <a:spcPts val="400"/>
              </a:spcAft>
              <a:buSzPct val="100000"/>
              <a:buChar char="•"/>
            </a:pPr>
            <a:r>
              <a:rPr lang="en-US" sz="1500" dirty="0">
                <a:solidFill>
                  <a:schemeClr val="bg1"/>
                </a:solidFill>
              </a:rPr>
              <a:t>CPU</a:t>
            </a:r>
            <a:endParaRPr lang="en-US" sz="1600" dirty="0"/>
          </a:p>
          <a:p>
            <a:pPr marL="342900" indent="-342900" algn="l">
              <a:spcAft>
                <a:spcPts val="400"/>
              </a:spcAft>
              <a:buSzPct val="100000"/>
              <a:buChar char="•"/>
            </a:pPr>
            <a:r>
              <a:rPr lang="en-US" sz="1500" dirty="0">
                <a:solidFill>
                  <a:schemeClr val="bg1"/>
                </a:solidFill>
              </a:rPr>
              <a:t>Memory</a:t>
            </a:r>
            <a:endParaRPr lang="en-US" sz="1600" dirty="0"/>
          </a:p>
          <a:p>
            <a:pPr marL="342900" indent="-342900" algn="l">
              <a:spcAft>
                <a:spcPts val="400"/>
              </a:spcAft>
              <a:buSzPct val="100000"/>
              <a:buChar char="•"/>
            </a:pPr>
            <a:r>
              <a:rPr lang="en-US" sz="1500" dirty="0">
                <a:solidFill>
                  <a:schemeClr val="bg1"/>
                </a:solidFill>
              </a:rPr>
              <a:t>File I/O</a:t>
            </a:r>
            <a:endParaRPr lang="en-US" sz="1600" dirty="0"/>
          </a:p>
        </p:txBody>
      </p:sp>
      <p:sp>
        <p:nvSpPr>
          <p:cNvPr id="22" name="Combined benchmark card"/>
          <p:cNvSpPr/>
          <p:nvPr/>
        </p:nvSpPr>
        <p:spPr>
          <a:xfrm>
            <a:off x="7863840" y="4160520"/>
            <a:ext cx="3502152" cy="1783080"/>
          </a:xfrm>
          <a:prstGeom prst="roundRect">
            <a:avLst>
              <a:gd name="adj" fmla="val 6154"/>
            </a:avLst>
          </a:prstGeom>
          <a:solidFill>
            <a:schemeClr val="accent5"/>
          </a:solidFill>
          <a:ln w="12700">
            <a:solidFill>
              <a:schemeClr val="accent5"/>
            </a:solidFill>
            <a:prstDash val="solid"/>
          </a:ln>
        </p:spPr>
      </p:sp>
      <p:sp>
        <p:nvSpPr>
          <p:cNvPr id="23" name="Text 20"/>
          <p:cNvSpPr txBox="1"/>
          <p:nvPr/>
        </p:nvSpPr>
        <p:spPr>
          <a:xfrm>
            <a:off x="8092440" y="4297680"/>
            <a:ext cx="3108960" cy="320040"/>
          </a:xfrm>
          <a:prstGeom prst="rect">
            <a:avLst/>
          </a:prstGeom>
          <a:noFill/>
          <a:ln/>
        </p:spPr>
        <p:txBody>
          <a:bodyPr wrap="square" lIns="0" tIns="0" rIns="0" bIns="0" rtlCol="0" anchor="t"/>
          <a:lstStyle/>
          <a:p>
            <a:pPr marL="0" indent="0" algn="l">
              <a:buNone/>
            </a:pPr>
            <a:r>
              <a:rPr lang="en-US" sz="1600" b="1" dirty="0">
                <a:solidFill>
                  <a:schemeClr val="accent2"/>
                </a:solidFill>
              </a:rPr>
              <a:t>Combined benchmark</a:t>
            </a:r>
            <a:endParaRPr lang="en-US" sz="1600" dirty="0"/>
          </a:p>
        </p:txBody>
      </p:sp>
      <p:sp>
        <p:nvSpPr>
          <p:cNvPr id="24" name="Text 21"/>
          <p:cNvSpPr txBox="1"/>
          <p:nvPr/>
        </p:nvSpPr>
        <p:spPr>
          <a:xfrm>
            <a:off x="8092440" y="4709160"/>
            <a:ext cx="3108960" cy="1188720"/>
          </a:xfrm>
          <a:prstGeom prst="rect">
            <a:avLst/>
          </a:prstGeom>
          <a:noFill/>
          <a:ln/>
        </p:spPr>
        <p:txBody>
          <a:bodyPr wrap="square" lIns="0" tIns="0" rIns="0" bIns="0" rtlCol="0" anchor="t"/>
          <a:lstStyle/>
          <a:p>
            <a:pPr marL="342900" indent="-342900" algn="l">
              <a:spcAft>
                <a:spcPts val="400"/>
              </a:spcAft>
              <a:buSzPct val="100000"/>
              <a:buChar char="•"/>
            </a:pPr>
            <a:r>
              <a:rPr lang="en-US" sz="1500" dirty="0">
                <a:solidFill>
                  <a:schemeClr val="bg1"/>
                </a:solidFill>
              </a:rPr>
              <a:t>Runs 3 rounds</a:t>
            </a:r>
            <a:endParaRPr lang="en-US" sz="1600" dirty="0"/>
          </a:p>
          <a:p>
            <a:pPr marL="342900" indent="-342900" algn="l">
              <a:spcAft>
                <a:spcPts val="400"/>
              </a:spcAft>
              <a:buSzPct val="100000"/>
              <a:buChar char="•"/>
            </a:pPr>
            <a:r>
              <a:rPr lang="en-US" sz="1500" dirty="0">
                <a:solidFill>
                  <a:schemeClr val="bg1"/>
                </a:solidFill>
              </a:rPr>
              <a:t>Calculates averages</a:t>
            </a:r>
            <a:endParaRPr lang="en-US" sz="1600" dirty="0"/>
          </a:p>
          <a:p>
            <a:pPr marL="342900" indent="-342900" algn="l">
              <a:spcAft>
                <a:spcPts val="400"/>
              </a:spcAft>
              <a:buSzPct val="100000"/>
              <a:buChar char="•"/>
            </a:pPr>
            <a:r>
              <a:rPr lang="en-US" sz="1500" dirty="0">
                <a:solidFill>
                  <a:schemeClr val="bg1"/>
                </a:solidFill>
              </a:rPr>
              <a:t>Saves benchmark_results.csv</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Results and Analysis</a:t>
            </a:r>
            <a:endParaRPr lang="en-US" sz="3600" dirty="0"/>
          </a:p>
        </p:txBody>
      </p:sp>
      <p:graphicFrame>
        <p:nvGraphicFramePr>
          <p:cNvPr id="12" name="Results table"/>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2920">
                <a:tc>
                  <a:txBody>
                    <a:bodyPr/>
                    <a:lstStyle/>
                    <a:p>
                      <a:pPr marL="0" indent="0" algn="l">
                        <a:buNone/>
                      </a:pPr>
                      <a:r>
                        <a:rPr lang="en-US" sz="1400" b="1" dirty="0">
                          <a:solidFill>
                            <a:srgbClr val="FFFFFF"/>
                          </a:solidFill>
                        </a:rPr>
                        <a:t>Benchmark</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2F81F7"/>
                    </a:solidFill>
                  </a:tcPr>
                </a:tc>
                <a:tc>
                  <a:txBody>
                    <a:bodyPr/>
                    <a:lstStyle/>
                    <a:p>
                      <a:pPr marL="0" indent="0" algn="ctr">
                        <a:buNone/>
                      </a:pPr>
                      <a:r>
                        <a:rPr lang="en-US" sz="1400" b="1" dirty="0">
                          <a:solidFill>
                            <a:srgbClr val="FFFFFF"/>
                          </a:solidFill>
                        </a:rPr>
                        <a:t>Run 1 (s)</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2F81F7"/>
                    </a:solidFill>
                  </a:tcPr>
                </a:tc>
                <a:tc>
                  <a:txBody>
                    <a:bodyPr/>
                    <a:lstStyle/>
                    <a:p>
                      <a:pPr marL="0" indent="0" algn="ctr">
                        <a:buNone/>
                      </a:pPr>
                      <a:r>
                        <a:rPr lang="en-US" sz="1400" b="1" dirty="0">
                          <a:solidFill>
                            <a:srgbClr val="FFFFFF"/>
                          </a:solidFill>
                        </a:rPr>
                        <a:t>Run 2 (s)</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2F81F7"/>
                    </a:solidFill>
                  </a:tcPr>
                </a:tc>
                <a:tc>
                  <a:txBody>
                    <a:bodyPr/>
                    <a:lstStyle/>
                    <a:p>
                      <a:pPr marL="0" indent="0" algn="ctr">
                        <a:buNone/>
                      </a:pPr>
                      <a:r>
                        <a:rPr lang="en-US" sz="1400" b="1" dirty="0">
                          <a:solidFill>
                            <a:srgbClr val="FFFFFF"/>
                          </a:solidFill>
                        </a:rPr>
                        <a:t>Run 3 (s)</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2F81F7"/>
                    </a:solidFill>
                  </a:tcPr>
                </a:tc>
                <a:tc>
                  <a:txBody>
                    <a:bodyPr/>
                    <a:lstStyle/>
                    <a:p>
                      <a:pPr marL="0" indent="0" algn="ctr">
                        <a:buNone/>
                      </a:pPr>
                      <a:r>
                        <a:rPr lang="en-US" sz="1400" b="1" dirty="0">
                          <a:solidFill>
                            <a:srgbClr val="FFFFFF"/>
                          </a:solidFill>
                        </a:rPr>
                        <a:t>Average (s)</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2F81F7"/>
                    </a:solidFill>
                  </a:tcPr>
                </a:tc>
                <a:extLst>
                  <a:ext uri="{0D108BD9-81ED-4DB2-BD59-A6C34878D82A}">
                    <a16:rowId xmlns:a16="http://schemas.microsoft.com/office/drawing/2014/main" val="10000"/>
                  </a:ext>
                </a:extLst>
              </a:tr>
              <a:tr h="502920">
                <a:tc>
                  <a:txBody>
                    <a:bodyPr/>
                    <a:lstStyle/>
                    <a:p>
                      <a:pPr marL="0" indent="0" algn="l">
                        <a:buNone/>
                      </a:pPr>
                      <a:r>
                        <a:rPr lang="en-US" sz="1400" b="1" dirty="0">
                          <a:solidFill>
                            <a:srgbClr val="FFFFFF"/>
                          </a:solidFill>
                        </a:rPr>
                        <a:t>CPU</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0.019185</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0.017272</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0.016690</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b="1" dirty="0">
                          <a:solidFill>
                            <a:srgbClr val="79B8FF"/>
                          </a:solidFill>
                        </a:rPr>
                        <a:t>0.017715</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extLst>
                  <a:ext uri="{0D108BD9-81ED-4DB2-BD59-A6C34878D82A}">
                    <a16:rowId xmlns:a16="http://schemas.microsoft.com/office/drawing/2014/main" val="10001"/>
                  </a:ext>
                </a:extLst>
              </a:tr>
              <a:tr h="502920">
                <a:tc>
                  <a:txBody>
                    <a:bodyPr/>
                    <a:lstStyle/>
                    <a:p>
                      <a:pPr marL="0" indent="0" algn="l">
                        <a:buNone/>
                      </a:pPr>
                      <a:r>
                        <a:rPr lang="en-US" sz="1400" b="1" dirty="0">
                          <a:solidFill>
                            <a:srgbClr val="FFFFFF"/>
                          </a:solidFill>
                        </a:rPr>
                        <a:t>Memory</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0.003805</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0.002748</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0.001548</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b="1" dirty="0">
                          <a:solidFill>
                            <a:srgbClr val="79B8FF"/>
                          </a:solidFill>
                        </a:rPr>
                        <a:t>0.002700</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extLst>
                  <a:ext uri="{0D108BD9-81ED-4DB2-BD59-A6C34878D82A}">
                    <a16:rowId xmlns:a16="http://schemas.microsoft.com/office/drawing/2014/main" val="10002"/>
                  </a:ext>
                </a:extLst>
              </a:tr>
              <a:tr h="502920">
                <a:tc>
                  <a:txBody>
                    <a:bodyPr/>
                    <a:lstStyle/>
                    <a:p>
                      <a:pPr marL="0" indent="0" algn="l">
                        <a:buNone/>
                      </a:pPr>
                      <a:r>
                        <a:rPr lang="en-US" sz="1400" b="1" dirty="0">
                          <a:solidFill>
                            <a:srgbClr val="FFFFFF"/>
                          </a:solidFill>
                        </a:rPr>
                        <a:t>File I/O</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0.010319</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0.005726</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dirty="0">
                          <a:solidFill>
                            <a:srgbClr val="FFFFFF"/>
                          </a:solidFill>
                        </a:rPr>
                        <a:t>0.007758</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tc>
                  <a:txBody>
                    <a:bodyPr/>
                    <a:lstStyle/>
                    <a:p>
                      <a:pPr marL="0" indent="0" algn="ctr">
                        <a:buNone/>
                      </a:pPr>
                      <a:r>
                        <a:rPr lang="en-US" sz="1400" b="1" dirty="0">
                          <a:solidFill>
                            <a:srgbClr val="79B8FF"/>
                          </a:solidFill>
                        </a:rPr>
                        <a:t>0.007934</a:t>
                      </a:r>
                      <a:endParaRPr lang="en-US" sz="1400" dirty="0"/>
                    </a:p>
                  </a:txBody>
                  <a:tcPr marT="0" marB="0" anchor="ctr">
                    <a:lnL w="12700" cap="flat" cmpd="sng" algn="ctr">
                      <a:solidFill>
                        <a:srgbClr val="233556"/>
                      </a:solidFill>
                      <a:prstDash val="solid"/>
                      <a:round/>
                      <a:headEnd type="none" w="med" len="med"/>
                      <a:tailEnd type="none" w="med" len="med"/>
                    </a:lnL>
                    <a:lnR w="12700" cap="flat" cmpd="sng" algn="ctr">
                      <a:solidFill>
                        <a:srgbClr val="233556"/>
                      </a:solidFill>
                      <a:prstDash val="solid"/>
                      <a:round/>
                      <a:headEnd type="none" w="med" len="med"/>
                      <a:tailEnd type="none" w="med" len="med"/>
                    </a:lnR>
                    <a:lnT w="12700" cap="flat" cmpd="sng" algn="ctr">
                      <a:solidFill>
                        <a:srgbClr val="233556"/>
                      </a:solidFill>
                      <a:prstDash val="solid"/>
                      <a:round/>
                      <a:headEnd type="none" w="med" len="med"/>
                      <a:tailEnd type="none" w="med" len="med"/>
                    </a:lnT>
                    <a:lnB w="12700" cap="flat" cmpd="sng" algn="ctr">
                      <a:solidFill>
                        <a:srgbClr val="233556"/>
                      </a:solidFill>
                      <a:prstDash val="solid"/>
                      <a:round/>
                      <a:headEnd type="none" w="med" len="med"/>
                      <a:tailEnd type="none" w="med" len="med"/>
                    </a:lnB>
                    <a:solidFill>
                      <a:srgbClr val="122041"/>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548640" y="3566160"/>
            <a:ext cx="6035040" cy="457200"/>
          </a:xfrm>
          <a:prstGeom prst="rect">
            <a:avLst/>
          </a:prstGeom>
          <a:noFill/>
          <a:ln/>
        </p:spPr>
        <p:txBody>
          <a:bodyPr wrap="square" lIns="0" tIns="0" rIns="0" bIns="0" rtlCol="0" anchor="t"/>
          <a:lstStyle/>
          <a:p>
            <a:pPr marL="0" indent="0" algn="l">
              <a:buNone/>
            </a:pPr>
            <a:r>
              <a:rPr lang="en-US" sz="1200" dirty="0">
                <a:solidFill>
                  <a:schemeClr val="accent4"/>
                </a:solidFill>
              </a:rPr>
              <a:t>Times in seconds (s). Memory allocated: 4,000,000 bytes. File I/O: 50,000 lines read per run.</a:t>
            </a:r>
            <a:endParaRPr lang="en-US" sz="1200" dirty="0"/>
          </a:p>
        </p:txBody>
      </p:sp>
      <p:sp>
        <p:nvSpPr>
          <p:cNvPr id="6" name="Text 2"/>
          <p:cNvSpPr txBox="1"/>
          <p:nvPr/>
        </p:nvSpPr>
        <p:spPr>
          <a:xfrm>
            <a:off x="548640" y="4114800"/>
            <a:ext cx="6035040" cy="2103120"/>
          </a:xfrm>
          <a:prstGeom prst="rect">
            <a:avLst/>
          </a:prstGeom>
          <a:noFill/>
          <a:ln/>
        </p:spPr>
        <p:txBody>
          <a:bodyPr wrap="square" lIns="0" tIns="0" rIns="0" bIns="0" rtlCol="0" anchor="t"/>
          <a:lstStyle/>
          <a:p>
            <a:pPr marL="342900" indent="-342900" algn="l">
              <a:spcAft>
                <a:spcPts val="600"/>
              </a:spcAft>
              <a:buSzPct val="100000"/>
              <a:buChar char="•"/>
            </a:pPr>
            <a:r>
              <a:rPr lang="en-US" sz="1400" dirty="0">
                <a:solidFill>
                  <a:schemeClr val="bg1"/>
                </a:solidFill>
              </a:rPr>
              <a:t>Run 1 was the slowest in all three benchmarks (possibly warm-up or caching)</a:t>
            </a:r>
            <a:endParaRPr lang="en-US" sz="1600" dirty="0"/>
          </a:p>
          <a:p>
            <a:pPr marL="342900" indent="-342900" algn="l">
              <a:spcAft>
                <a:spcPts val="600"/>
              </a:spcAft>
              <a:buSzPct val="100000"/>
              <a:buChar char="•"/>
            </a:pPr>
            <a:r>
              <a:rPr lang="en-US" sz="1400" dirty="0">
                <a:solidFill>
                  <a:schemeClr val="bg1"/>
                </a:solidFill>
              </a:rPr>
              <a:t>The benchmarks do different work, so compare trends, not winners</a:t>
            </a:r>
            <a:endParaRPr lang="en-US" sz="1600" dirty="0"/>
          </a:p>
          <a:p>
            <a:pPr marL="342900" indent="-342900" algn="l">
              <a:spcAft>
                <a:spcPts val="600"/>
              </a:spcAft>
              <a:buSzPct val="100000"/>
              <a:buChar char="•"/>
            </a:pPr>
            <a:r>
              <a:rPr lang="en-US" sz="1400" dirty="0">
                <a:solidFill>
                  <a:schemeClr val="bg1"/>
                </a:solidFill>
              </a:rPr>
              <a:t>Results are specific to this test environment and workload and may vary across systems and repeated runs</a:t>
            </a:r>
            <a:endParaRPr lang="en-US" sz="1600" dirty="0"/>
          </a:p>
        </p:txBody>
      </p:sp>
      <p:sp>
        <p:nvSpPr>
          <p:cNvPr id="7" name="Chart card"/>
          <p:cNvSpPr/>
          <p:nvPr/>
        </p:nvSpPr>
        <p:spPr>
          <a:xfrm>
            <a:off x="6949440" y="1463040"/>
            <a:ext cx="4690872" cy="4709160"/>
          </a:xfrm>
          <a:prstGeom prst="roundRect">
            <a:avLst>
              <a:gd name="adj" fmla="val 2339"/>
            </a:avLst>
          </a:prstGeom>
          <a:solidFill>
            <a:schemeClr val="tx2"/>
          </a:solidFill>
          <a:ln w="12700">
            <a:solidFill>
              <a:schemeClr val="accent5"/>
            </a:solidFill>
            <a:prstDash val="solid"/>
          </a:ln>
        </p:spPr>
      </p:sp>
      <p:graphicFrame>
        <p:nvGraphicFramePr>
          <p:cNvPr id="8" name="Chart 0"/>
          <p:cNvGraphicFramePr/>
          <p:nvPr/>
        </p:nvGraphicFramePr>
        <p:xfrm>
          <a:off x="7040880" y="1554480"/>
          <a:ext cx="4507992"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Testing and GitHub</a:t>
            </a:r>
            <a:endParaRPr lang="en-US" sz="3600" dirty="0"/>
          </a:p>
        </p:txBody>
      </p:sp>
      <p:pic>
        <p:nvPicPr>
          <p:cNvPr id="4" name="Image 0" descr="Check mark"/>
          <p:cNvPicPr>
            <a:picLocks noChangeAspect="1"/>
          </p:cNvPicPr>
          <p:nvPr/>
        </p:nvPicPr>
        <p:blipFill>
          <a:blip r:embed="rId3"/>
          <a:stretch>
            <a:fillRect/>
          </a:stretch>
        </p:blipFill>
        <p:spPr>
          <a:xfrm>
            <a:off x="548640" y="1673352"/>
            <a:ext cx="457200" cy="457200"/>
          </a:xfrm>
          <a:prstGeom prst="rect">
            <a:avLst/>
          </a:prstGeom>
        </p:spPr>
      </p:pic>
      <p:sp>
        <p:nvSpPr>
          <p:cNvPr id="5" name="Text 1"/>
          <p:cNvSpPr txBox="1"/>
          <p:nvPr/>
        </p:nvSpPr>
        <p:spPr>
          <a:xfrm>
            <a:off x="1188720" y="1600200"/>
            <a:ext cx="5120640" cy="603504"/>
          </a:xfrm>
          <a:prstGeom prst="rect">
            <a:avLst/>
          </a:prstGeom>
          <a:noFill/>
          <a:ln/>
        </p:spPr>
        <p:txBody>
          <a:bodyPr wrap="square" lIns="0" tIns="0" rIns="0" bIns="0" rtlCol="0" anchor="ctr"/>
          <a:lstStyle/>
          <a:p>
            <a:pPr marL="0" indent="0" algn="l">
              <a:buNone/>
            </a:pPr>
            <a:r>
              <a:rPr lang="en-US" sz="1800" dirty="0">
                <a:solidFill>
                  <a:schemeClr val="bg1"/>
                </a:solidFill>
              </a:rPr>
              <a:t>Compiled successfully with GCC 13.3.0</a:t>
            </a:r>
            <a:endParaRPr lang="en-US" sz="1800" dirty="0"/>
          </a:p>
        </p:txBody>
      </p:sp>
      <p:pic>
        <p:nvPicPr>
          <p:cNvPr id="6" name="Image 1" descr="Check mark"/>
          <p:cNvPicPr>
            <a:picLocks noChangeAspect="1"/>
          </p:cNvPicPr>
          <p:nvPr/>
        </p:nvPicPr>
        <p:blipFill>
          <a:blip r:embed="rId3"/>
          <a:stretch>
            <a:fillRect/>
          </a:stretch>
        </p:blipFill>
        <p:spPr>
          <a:xfrm>
            <a:off x="548640" y="2560320"/>
            <a:ext cx="457200" cy="457200"/>
          </a:xfrm>
          <a:prstGeom prst="rect">
            <a:avLst/>
          </a:prstGeom>
        </p:spPr>
      </p:pic>
      <p:sp>
        <p:nvSpPr>
          <p:cNvPr id="7" name="Text 2"/>
          <p:cNvSpPr txBox="1"/>
          <p:nvPr/>
        </p:nvSpPr>
        <p:spPr>
          <a:xfrm>
            <a:off x="1188720" y="2487168"/>
            <a:ext cx="5120640" cy="603504"/>
          </a:xfrm>
          <a:prstGeom prst="rect">
            <a:avLst/>
          </a:prstGeom>
          <a:noFill/>
          <a:ln/>
        </p:spPr>
        <p:txBody>
          <a:bodyPr wrap="square" lIns="0" tIns="0" rIns="0" bIns="0" rtlCol="0" anchor="ctr"/>
          <a:lstStyle/>
          <a:p>
            <a:pPr marL="0" indent="0" algn="l">
              <a:buNone/>
            </a:pPr>
            <a:r>
              <a:rPr lang="en-US" sz="1800" dirty="0">
                <a:solidFill>
                  <a:schemeClr val="bg1"/>
                </a:solidFill>
              </a:rPr>
              <a:t>Executed on Ubuntu 24.04.4 LTS (WSL2)</a:t>
            </a:r>
            <a:endParaRPr lang="en-US" sz="1800" dirty="0"/>
          </a:p>
        </p:txBody>
      </p:sp>
      <p:pic>
        <p:nvPicPr>
          <p:cNvPr id="8" name="Image 2" descr="Check mark"/>
          <p:cNvPicPr>
            <a:picLocks noChangeAspect="1"/>
          </p:cNvPicPr>
          <p:nvPr/>
        </p:nvPicPr>
        <p:blipFill>
          <a:blip r:embed="rId3"/>
          <a:stretch>
            <a:fillRect/>
          </a:stretch>
        </p:blipFill>
        <p:spPr>
          <a:xfrm>
            <a:off x="548640" y="3447288"/>
            <a:ext cx="457200" cy="457200"/>
          </a:xfrm>
          <a:prstGeom prst="rect">
            <a:avLst/>
          </a:prstGeom>
        </p:spPr>
      </p:pic>
      <p:sp>
        <p:nvSpPr>
          <p:cNvPr id="9" name="Text 3"/>
          <p:cNvSpPr txBox="1"/>
          <p:nvPr/>
        </p:nvSpPr>
        <p:spPr>
          <a:xfrm>
            <a:off x="1188720" y="3374136"/>
            <a:ext cx="5120640" cy="603504"/>
          </a:xfrm>
          <a:prstGeom prst="rect">
            <a:avLst/>
          </a:prstGeom>
          <a:noFill/>
          <a:ln/>
        </p:spPr>
        <p:txBody>
          <a:bodyPr wrap="square" lIns="0" tIns="0" rIns="0" bIns="0" rtlCol="0" anchor="ctr"/>
          <a:lstStyle/>
          <a:p>
            <a:pPr marL="0" indent="0" algn="l">
              <a:buNone/>
            </a:pPr>
            <a:r>
              <a:rPr lang="en-US" sz="1800" dirty="0">
                <a:solidFill>
                  <a:schemeClr val="bg1"/>
                </a:solidFill>
              </a:rPr>
              <a:t>Individual and combined benchmarks tested</a:t>
            </a:r>
            <a:endParaRPr lang="en-US" sz="1800" dirty="0"/>
          </a:p>
        </p:txBody>
      </p:sp>
      <p:pic>
        <p:nvPicPr>
          <p:cNvPr id="10" name="Image 3" descr="Check mark"/>
          <p:cNvPicPr>
            <a:picLocks noChangeAspect="1"/>
          </p:cNvPicPr>
          <p:nvPr/>
        </p:nvPicPr>
        <p:blipFill>
          <a:blip r:embed="rId3"/>
          <a:stretch>
            <a:fillRect/>
          </a:stretch>
        </p:blipFill>
        <p:spPr>
          <a:xfrm>
            <a:off x="548640" y="4334256"/>
            <a:ext cx="457200" cy="457200"/>
          </a:xfrm>
          <a:prstGeom prst="rect">
            <a:avLst/>
          </a:prstGeom>
        </p:spPr>
      </p:pic>
      <p:sp>
        <p:nvSpPr>
          <p:cNvPr id="11" name="Text 4"/>
          <p:cNvSpPr txBox="1"/>
          <p:nvPr/>
        </p:nvSpPr>
        <p:spPr>
          <a:xfrm>
            <a:off x="1188720" y="4261104"/>
            <a:ext cx="5120640" cy="603504"/>
          </a:xfrm>
          <a:prstGeom prst="rect">
            <a:avLst/>
          </a:prstGeom>
          <a:noFill/>
          <a:ln/>
        </p:spPr>
        <p:txBody>
          <a:bodyPr wrap="square" lIns="0" tIns="0" rIns="0" bIns="0" rtlCol="0" anchor="ctr"/>
          <a:lstStyle/>
          <a:p>
            <a:pPr marL="0" indent="0" algn="l">
              <a:buNone/>
            </a:pPr>
            <a:r>
              <a:rPr lang="en-US" sz="1800" dirty="0">
                <a:solidFill>
                  <a:schemeClr val="bg1"/>
                </a:solidFill>
              </a:rPr>
              <a:t>Three benchmark rounds repeated and averaged</a:t>
            </a:r>
            <a:endParaRPr lang="en-US" sz="1800" dirty="0"/>
          </a:p>
        </p:txBody>
      </p:sp>
      <p:pic>
        <p:nvPicPr>
          <p:cNvPr id="12" name="Image 4" descr="Check mark"/>
          <p:cNvPicPr>
            <a:picLocks noChangeAspect="1"/>
          </p:cNvPicPr>
          <p:nvPr/>
        </p:nvPicPr>
        <p:blipFill>
          <a:blip r:embed="rId3"/>
          <a:stretch>
            <a:fillRect/>
          </a:stretch>
        </p:blipFill>
        <p:spPr>
          <a:xfrm>
            <a:off x="548640" y="5221224"/>
            <a:ext cx="457200" cy="457200"/>
          </a:xfrm>
          <a:prstGeom prst="rect">
            <a:avLst/>
          </a:prstGeom>
        </p:spPr>
      </p:pic>
      <p:sp>
        <p:nvSpPr>
          <p:cNvPr id="13" name="Text 5"/>
          <p:cNvSpPr txBox="1"/>
          <p:nvPr/>
        </p:nvSpPr>
        <p:spPr>
          <a:xfrm>
            <a:off x="1188720" y="5148072"/>
            <a:ext cx="5120640" cy="603504"/>
          </a:xfrm>
          <a:prstGeom prst="rect">
            <a:avLst/>
          </a:prstGeom>
          <a:noFill/>
          <a:ln/>
        </p:spPr>
        <p:txBody>
          <a:bodyPr wrap="square" lIns="0" tIns="0" rIns="0" bIns="0" rtlCol="0" anchor="ctr"/>
          <a:lstStyle/>
          <a:p>
            <a:pPr marL="0" indent="0" algn="l">
              <a:buNone/>
            </a:pPr>
            <a:r>
              <a:rPr lang="en-US" sz="1800" dirty="0">
                <a:solidFill>
                  <a:schemeClr val="bg1"/>
                </a:solidFill>
              </a:rPr>
              <a:t>benchmark_results.csv generated</a:t>
            </a:r>
            <a:endParaRPr lang="en-US" sz="1800" dirty="0"/>
          </a:p>
        </p:txBody>
      </p:sp>
      <p:sp>
        <p:nvSpPr>
          <p:cNvPr id="14" name="GitHub card"/>
          <p:cNvSpPr/>
          <p:nvPr/>
        </p:nvSpPr>
        <p:spPr>
          <a:xfrm>
            <a:off x="6766560" y="1508760"/>
            <a:ext cx="4873752" cy="4617720"/>
          </a:xfrm>
          <a:prstGeom prst="roundRect">
            <a:avLst>
              <a:gd name="adj" fmla="val 2376"/>
            </a:avLst>
          </a:prstGeom>
          <a:solidFill>
            <a:schemeClr val="tx2"/>
          </a:solidFill>
          <a:ln w="12700">
            <a:solidFill>
              <a:schemeClr val="accent5"/>
            </a:solidFill>
            <a:prstDash val="solid"/>
          </a:ln>
        </p:spPr>
      </p:sp>
      <p:sp>
        <p:nvSpPr>
          <p:cNvPr id="15" name="GitHub icon"/>
          <p:cNvSpPr/>
          <p:nvPr/>
        </p:nvSpPr>
        <p:spPr>
          <a:xfrm>
            <a:off x="7086600" y="1783080"/>
            <a:ext cx="640080" cy="640080"/>
          </a:xfrm>
          <a:prstGeom prst="ellipse">
            <a:avLst/>
          </a:prstGeom>
          <a:solidFill>
            <a:schemeClr val="accent1"/>
          </a:solidFill>
          <a:ln w="12700">
            <a:solidFill>
              <a:schemeClr val="accent1"/>
            </a:solidFill>
            <a:prstDash val="solid"/>
          </a:ln>
        </p:spPr>
      </p:sp>
      <p:pic>
        <p:nvPicPr>
          <p:cNvPr id="16" name="Image 5" descr="GitHub icon icon"/>
          <p:cNvPicPr>
            <a:picLocks noChangeAspect="1"/>
          </p:cNvPicPr>
          <p:nvPr/>
        </p:nvPicPr>
        <p:blipFill>
          <a:blip r:embed="rId4"/>
          <a:stretch>
            <a:fillRect/>
          </a:stretch>
        </p:blipFill>
        <p:spPr>
          <a:xfrm>
            <a:off x="7246620" y="1943100"/>
            <a:ext cx="320040" cy="320040"/>
          </a:xfrm>
          <a:prstGeom prst="rect">
            <a:avLst/>
          </a:prstGeom>
        </p:spPr>
      </p:pic>
      <p:sp>
        <p:nvSpPr>
          <p:cNvPr id="17" name="Text 8"/>
          <p:cNvSpPr txBox="1"/>
          <p:nvPr/>
        </p:nvSpPr>
        <p:spPr>
          <a:xfrm>
            <a:off x="7909560" y="1874520"/>
            <a:ext cx="3474720" cy="457200"/>
          </a:xfrm>
          <a:prstGeom prst="rect">
            <a:avLst/>
          </a:prstGeom>
          <a:noFill/>
          <a:ln/>
        </p:spPr>
        <p:txBody>
          <a:bodyPr wrap="square" lIns="0" tIns="0" rIns="0" bIns="0" rtlCol="0" anchor="ctr"/>
          <a:lstStyle/>
          <a:p>
            <a:pPr marL="0" indent="0" algn="l">
              <a:buNone/>
            </a:pPr>
            <a:r>
              <a:rPr lang="en-US" sz="2000" b="1" dirty="0">
                <a:solidFill>
                  <a:schemeClr val="bg1"/>
                </a:solidFill>
              </a:rPr>
              <a:t>GitHub repository</a:t>
            </a:r>
            <a:endParaRPr lang="en-US" sz="2000" dirty="0"/>
          </a:p>
        </p:txBody>
      </p:sp>
      <p:sp>
        <p:nvSpPr>
          <p:cNvPr id="18" name="Text 9"/>
          <p:cNvSpPr txBox="1"/>
          <p:nvPr/>
        </p:nvSpPr>
        <p:spPr>
          <a:xfrm>
            <a:off x="7086600" y="2651760"/>
            <a:ext cx="4297680" cy="594360"/>
          </a:xfrm>
          <a:prstGeom prst="rect">
            <a:avLst/>
          </a:prstGeom>
          <a:noFill/>
          <a:ln/>
        </p:spPr>
        <p:txBody>
          <a:bodyPr wrap="square" lIns="0" tIns="0" rIns="0" bIns="0" rtlCol="0" anchor="t"/>
          <a:lstStyle/>
          <a:p>
            <a:pPr marL="0" indent="0" algn="l">
              <a:buNone/>
            </a:pPr>
            <a:r>
              <a:rPr lang="en-US" sz="1300" u="sng" dirty="0">
                <a:solidFill>
                  <a:schemeClr val="accent2"/>
                </a:solidFill>
                <a:hlinkClick r:id="rId5" tooltip="Open repository">
                  <a:extLst>
                    <a:ext uri="{A12FA001-AC4F-418D-AE19-62706E023703}">
                      <ahyp:hlinkClr xmlns:ahyp="http://schemas.microsoft.com/office/drawing/2018/hyperlinkcolor" val="tx"/>
                    </a:ext>
                  </a:extLst>
                </a:hlinkClick>
              </a:rPr>
              <a:t>github.com/Srivalli-29/linux-performance-benchmark-tool</a:t>
            </a:r>
            <a:endParaRPr lang="en-US" sz="1600" dirty="0"/>
          </a:p>
        </p:txBody>
      </p:sp>
      <p:sp>
        <p:nvSpPr>
          <p:cNvPr id="19" name="Text 10"/>
          <p:cNvSpPr txBox="1"/>
          <p:nvPr/>
        </p:nvSpPr>
        <p:spPr>
          <a:xfrm>
            <a:off x="7086600" y="3474720"/>
            <a:ext cx="4297680" cy="274320"/>
          </a:xfrm>
          <a:prstGeom prst="rect">
            <a:avLst/>
          </a:prstGeom>
          <a:noFill/>
          <a:ln/>
        </p:spPr>
        <p:txBody>
          <a:bodyPr wrap="square" lIns="0" tIns="0" rIns="0" bIns="0" rtlCol="0" anchor="t"/>
          <a:lstStyle/>
          <a:p>
            <a:pPr marL="0" indent="0" algn="l">
              <a:buNone/>
            </a:pPr>
            <a:r>
              <a:rPr lang="en-US" sz="1400" dirty="0">
                <a:solidFill>
                  <a:schemeClr val="accent4"/>
                </a:solidFill>
              </a:rPr>
              <a:t>Files uploaded</a:t>
            </a:r>
            <a:endParaRPr lang="en-US" sz="1400" dirty="0"/>
          </a:p>
        </p:txBody>
      </p:sp>
      <p:sp>
        <p:nvSpPr>
          <p:cNvPr id="20" name="File list box"/>
          <p:cNvSpPr/>
          <p:nvPr/>
        </p:nvSpPr>
        <p:spPr>
          <a:xfrm>
            <a:off x="7086600" y="3840480"/>
            <a:ext cx="4233672" cy="2011680"/>
          </a:xfrm>
          <a:prstGeom prst="roundRect">
            <a:avLst>
              <a:gd name="adj" fmla="val 3636"/>
            </a:avLst>
          </a:prstGeom>
          <a:solidFill>
            <a:schemeClr val="tx1"/>
          </a:solidFill>
          <a:ln w="12700">
            <a:solidFill>
              <a:schemeClr val="accent5"/>
            </a:solidFill>
            <a:prstDash val="solid"/>
          </a:ln>
        </p:spPr>
      </p:sp>
      <p:sp>
        <p:nvSpPr>
          <p:cNvPr id="21" name="Text 12"/>
          <p:cNvSpPr txBox="1"/>
          <p:nvPr/>
        </p:nvSpPr>
        <p:spPr>
          <a:xfrm>
            <a:off x="7315200" y="4023360"/>
            <a:ext cx="3840480" cy="1737360"/>
          </a:xfrm>
          <a:prstGeom prst="rect">
            <a:avLst/>
          </a:prstGeom>
          <a:noFill/>
          <a:ln/>
        </p:spPr>
        <p:txBody>
          <a:bodyPr wrap="square" lIns="0" tIns="0" rIns="0" bIns="0" rtlCol="0" anchor="t"/>
          <a:lstStyle/>
          <a:p>
            <a:pPr marL="0" indent="0" algn="l">
              <a:spcAft>
                <a:spcPts val="600"/>
              </a:spcAft>
              <a:buNone/>
            </a:pPr>
            <a:r>
              <a:rPr lang="en-US" sz="1400" dirty="0">
                <a:solidFill>
                  <a:schemeClr val="bg1"/>
                </a:solidFill>
                <a:latin typeface="Courier New" pitchFamily="34" charset="0"/>
                <a:ea typeface="Courier New" pitchFamily="34" charset="-122"/>
                <a:cs typeface="Courier New" pitchFamily="34" charset="-120"/>
              </a:rPr>
              <a:t>benchmark.c  (source code)</a:t>
            </a:r>
            <a:endParaRPr lang="en-US" sz="1600" dirty="0"/>
          </a:p>
          <a:p>
            <a:pPr marL="0" indent="0" algn="l">
              <a:spcAft>
                <a:spcPts val="600"/>
              </a:spcAft>
              <a:buNone/>
            </a:pPr>
            <a:r>
              <a:rPr lang="en-US" sz="1400" dirty="0">
                <a:solidFill>
                  <a:schemeClr val="bg1"/>
                </a:solidFill>
                <a:latin typeface="Courier New" pitchFamily="34" charset="0"/>
                <a:ea typeface="Courier New" pitchFamily="34" charset="-122"/>
                <a:cs typeface="Courier New" pitchFamily="34" charset="-120"/>
              </a:rPr>
              <a:t>README.md</a:t>
            </a:r>
            <a:endParaRPr lang="en-US" sz="1600" dirty="0"/>
          </a:p>
          <a:p>
            <a:pPr marL="0" indent="0" algn="l">
              <a:spcAft>
                <a:spcPts val="600"/>
              </a:spcAft>
              <a:buNone/>
            </a:pPr>
            <a:r>
              <a:rPr lang="en-US" sz="1400" dirty="0">
                <a:solidFill>
                  <a:schemeClr val="bg1"/>
                </a:solidFill>
                <a:latin typeface="Courier New" pitchFamily="34" charset="0"/>
                <a:ea typeface="Courier New" pitchFamily="34" charset="-122"/>
                <a:cs typeface="Courier New" pitchFamily="34" charset="-120"/>
              </a:rPr>
              <a:t>.gitignore</a:t>
            </a:r>
            <a:endParaRPr lang="en-US" sz="1600" dirty="0"/>
          </a:p>
          <a:p>
            <a:pPr marL="0" indent="0" algn="l">
              <a:spcAft>
                <a:spcPts val="600"/>
              </a:spcAft>
              <a:buNone/>
            </a:pPr>
            <a:r>
              <a:rPr lang="en-US" sz="1400" dirty="0">
                <a:solidFill>
                  <a:schemeClr val="bg1"/>
                </a:solidFill>
                <a:latin typeface="Courier New" pitchFamily="34" charset="0"/>
                <a:ea typeface="Courier New" pitchFamily="34" charset="-122"/>
                <a:cs typeface="Courier New" pitchFamily="34" charset="-120"/>
              </a:rPr>
              <a:t>benchmark_results.csv</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Limitations and Future Enhancements</a:t>
            </a:r>
            <a:endParaRPr lang="en-US" sz="3600" dirty="0"/>
          </a:p>
        </p:txBody>
      </p:sp>
      <p:sp>
        <p:nvSpPr>
          <p:cNvPr id="4" name="Limitations card"/>
          <p:cNvSpPr/>
          <p:nvPr/>
        </p:nvSpPr>
        <p:spPr>
          <a:xfrm>
            <a:off x="548640" y="1508760"/>
            <a:ext cx="5394960" cy="4480560"/>
          </a:xfrm>
          <a:prstGeom prst="roundRect">
            <a:avLst>
              <a:gd name="adj" fmla="val 2449"/>
            </a:avLst>
          </a:prstGeom>
          <a:solidFill>
            <a:schemeClr val="tx2"/>
          </a:solidFill>
          <a:ln w="12700">
            <a:solidFill>
              <a:schemeClr val="accent5"/>
            </a:solidFill>
            <a:prstDash val="solid"/>
          </a:ln>
        </p:spPr>
      </p:sp>
      <p:sp>
        <p:nvSpPr>
          <p:cNvPr id="5" name="Text 2"/>
          <p:cNvSpPr txBox="1"/>
          <p:nvPr/>
        </p:nvSpPr>
        <p:spPr>
          <a:xfrm>
            <a:off x="822960" y="1691640"/>
            <a:ext cx="4846320" cy="365760"/>
          </a:xfrm>
          <a:prstGeom prst="rect">
            <a:avLst/>
          </a:prstGeom>
          <a:noFill/>
          <a:ln/>
        </p:spPr>
        <p:txBody>
          <a:bodyPr wrap="square" lIns="0" tIns="0" rIns="0" bIns="0" rtlCol="0" anchor="t"/>
          <a:lstStyle/>
          <a:p>
            <a:pPr marL="0" indent="0" algn="l">
              <a:buNone/>
            </a:pPr>
            <a:r>
              <a:rPr lang="en-US" sz="2000" b="1" dirty="0">
                <a:solidFill>
                  <a:schemeClr val="accent2"/>
                </a:solidFill>
              </a:rPr>
              <a:t>Current limitations</a:t>
            </a:r>
            <a:endParaRPr lang="en-US" sz="2000" dirty="0"/>
          </a:p>
        </p:txBody>
      </p:sp>
      <p:sp>
        <p:nvSpPr>
          <p:cNvPr id="6" name="Text 3"/>
          <p:cNvSpPr txBox="1"/>
          <p:nvPr/>
        </p:nvSpPr>
        <p:spPr>
          <a:xfrm>
            <a:off x="822960" y="2286000"/>
            <a:ext cx="4846320" cy="3657600"/>
          </a:xfrm>
          <a:prstGeom prst="rect">
            <a:avLst/>
          </a:prstGeom>
          <a:noFill/>
          <a:ln/>
        </p:spPr>
        <p:txBody>
          <a:bodyPr wrap="square" lIns="0" tIns="0" rIns="0" bIns="0" rtlCol="0" anchor="t"/>
          <a:lstStyle/>
          <a:p>
            <a:pPr marL="342900" indent="-342900" algn="l">
              <a:spcAft>
                <a:spcPts val="1400"/>
              </a:spcAft>
              <a:buSzPct val="100000"/>
              <a:buChar char="•"/>
            </a:pPr>
            <a:r>
              <a:rPr lang="en-US" sz="1800" dirty="0">
                <a:solidFill>
                  <a:schemeClr val="bg1"/>
                </a:solidFill>
              </a:rPr>
              <a:t>Times selected workloads only, not total system performance</a:t>
            </a:r>
            <a:endParaRPr lang="en-US" sz="1600" dirty="0"/>
          </a:p>
          <a:p>
            <a:pPr marL="342900" indent="-342900" algn="l">
              <a:spcAft>
                <a:spcPts val="1400"/>
              </a:spcAft>
              <a:buSzPct val="100000"/>
              <a:buChar char="•"/>
            </a:pPr>
            <a:r>
              <a:rPr lang="en-US" sz="1800" dirty="0">
                <a:solidFill>
                  <a:schemeClr val="bg1"/>
                </a:solidFill>
              </a:rPr>
              <a:t>Does not report CPU utilization or overall RAM usage</a:t>
            </a:r>
            <a:endParaRPr lang="en-US" sz="1600" dirty="0"/>
          </a:p>
          <a:p>
            <a:pPr marL="342900" indent="-342900" algn="l">
              <a:spcAft>
                <a:spcPts val="1400"/>
              </a:spcAft>
              <a:buSzPct val="100000"/>
              <a:buChar char="•"/>
            </a:pPr>
            <a:r>
              <a:rPr lang="en-US" sz="1800" dirty="0">
                <a:solidFill>
                  <a:schemeClr val="bg1"/>
                </a:solidFill>
              </a:rPr>
              <a:t>Workload sizes are set in the program (4,000,000 bytes; 50,000 lines)</a:t>
            </a:r>
            <a:endParaRPr lang="en-US" sz="1600" dirty="0"/>
          </a:p>
          <a:p>
            <a:pPr marL="342900" indent="-342900" algn="l">
              <a:spcAft>
                <a:spcPts val="1400"/>
              </a:spcAft>
              <a:buSzPct val="100000"/>
              <a:buChar char="•"/>
            </a:pPr>
            <a:r>
              <a:rPr lang="en-US" sz="1800" dirty="0">
                <a:solidFill>
                  <a:schemeClr val="bg1"/>
                </a:solidFill>
              </a:rPr>
              <a:t>Results depend on the test environment (Ubuntu on WSL2)</a:t>
            </a:r>
            <a:endParaRPr lang="en-US" sz="1600" dirty="0"/>
          </a:p>
        </p:txBody>
      </p:sp>
      <p:sp>
        <p:nvSpPr>
          <p:cNvPr id="7" name="Future enhancements card"/>
          <p:cNvSpPr/>
          <p:nvPr/>
        </p:nvSpPr>
        <p:spPr>
          <a:xfrm>
            <a:off x="6245352" y="1508760"/>
            <a:ext cx="5394960" cy="4480560"/>
          </a:xfrm>
          <a:prstGeom prst="roundRect">
            <a:avLst>
              <a:gd name="adj" fmla="val 2449"/>
            </a:avLst>
          </a:prstGeom>
          <a:solidFill>
            <a:schemeClr val="tx2"/>
          </a:solidFill>
          <a:ln w="12700">
            <a:solidFill>
              <a:schemeClr val="accent1"/>
            </a:solidFill>
            <a:prstDash val="solid"/>
          </a:ln>
        </p:spPr>
      </p:sp>
      <p:sp>
        <p:nvSpPr>
          <p:cNvPr id="8" name="Text 5"/>
          <p:cNvSpPr txBox="1"/>
          <p:nvPr/>
        </p:nvSpPr>
        <p:spPr>
          <a:xfrm>
            <a:off x="6519672" y="1691640"/>
            <a:ext cx="4937760" cy="365760"/>
          </a:xfrm>
          <a:prstGeom prst="rect">
            <a:avLst/>
          </a:prstGeom>
          <a:noFill/>
          <a:ln/>
        </p:spPr>
        <p:txBody>
          <a:bodyPr wrap="square" lIns="0" tIns="0" rIns="0" bIns="0" rtlCol="0" anchor="t"/>
          <a:lstStyle/>
          <a:p>
            <a:pPr marL="0" indent="0" algn="l">
              <a:buNone/>
            </a:pPr>
            <a:r>
              <a:rPr lang="en-US" sz="2000" b="1" dirty="0">
                <a:solidFill>
                  <a:schemeClr val="accent2"/>
                </a:solidFill>
              </a:rPr>
              <a:t>Future enhancements (not yet implemented)</a:t>
            </a:r>
            <a:endParaRPr lang="en-US" sz="2000" dirty="0"/>
          </a:p>
        </p:txBody>
      </p:sp>
      <p:sp>
        <p:nvSpPr>
          <p:cNvPr id="9" name="Text 6"/>
          <p:cNvSpPr txBox="1"/>
          <p:nvPr/>
        </p:nvSpPr>
        <p:spPr>
          <a:xfrm>
            <a:off x="6519672" y="2286000"/>
            <a:ext cx="4937760" cy="3657600"/>
          </a:xfrm>
          <a:prstGeom prst="rect">
            <a:avLst/>
          </a:prstGeom>
          <a:noFill/>
          <a:ln/>
        </p:spPr>
        <p:txBody>
          <a:bodyPr wrap="square" lIns="0" tIns="0" rIns="0" bIns="0" rtlCol="0" anchor="t"/>
          <a:lstStyle/>
          <a:p>
            <a:pPr marL="342900" indent="-342900" algn="l">
              <a:spcAft>
                <a:spcPts val="1400"/>
              </a:spcAft>
              <a:buSzPct val="100000"/>
              <a:buChar char="•"/>
            </a:pPr>
            <a:r>
              <a:rPr lang="en-US" sz="1800" dirty="0">
                <a:solidFill>
                  <a:schemeClr val="bg1"/>
                </a:solidFill>
              </a:rPr>
              <a:t>CPU utilization monitoring</a:t>
            </a:r>
            <a:endParaRPr lang="en-US" sz="1600" dirty="0"/>
          </a:p>
          <a:p>
            <a:pPr marL="342900" indent="-342900" algn="l">
              <a:spcAft>
                <a:spcPts val="1400"/>
              </a:spcAft>
              <a:buSzPct val="100000"/>
              <a:buChar char="•"/>
            </a:pPr>
            <a:r>
              <a:rPr lang="en-US" sz="1800" dirty="0">
                <a:solidFill>
                  <a:schemeClr val="bg1"/>
                </a:solidFill>
              </a:rPr>
              <a:t>Memory usage monitoring</a:t>
            </a:r>
            <a:endParaRPr lang="en-US" sz="1600" dirty="0"/>
          </a:p>
          <a:p>
            <a:pPr marL="342900" indent="-342900" algn="l">
              <a:spcAft>
                <a:spcPts val="1400"/>
              </a:spcAft>
              <a:buSzPct val="100000"/>
              <a:buChar char="•"/>
            </a:pPr>
            <a:r>
              <a:rPr lang="en-US" sz="1800" dirty="0">
                <a:solidFill>
                  <a:schemeClr val="bg1"/>
                </a:solidFill>
              </a:rPr>
              <a:t>Larger, configurable workloads</a:t>
            </a:r>
            <a:endParaRPr lang="en-US" sz="1600" dirty="0"/>
          </a:p>
          <a:p>
            <a:pPr marL="342900" indent="-342900" algn="l">
              <a:spcAft>
                <a:spcPts val="1400"/>
              </a:spcAft>
              <a:buSzPct val="100000"/>
              <a:buChar char="•"/>
            </a:pPr>
            <a:r>
              <a:rPr lang="en-US" sz="1800" dirty="0">
                <a:solidFill>
                  <a:schemeClr val="bg1"/>
                </a:solidFill>
              </a:rPr>
              <a:t>Graphical reports</a:t>
            </a:r>
            <a:endParaRPr lang="en-US" sz="1600" dirty="0"/>
          </a:p>
          <a:p>
            <a:pPr marL="342900" indent="-342900" algn="l">
              <a:spcAft>
                <a:spcPts val="1400"/>
              </a:spcAft>
              <a:buSzPct val="100000"/>
              <a:buChar char="•"/>
            </a:pPr>
            <a:r>
              <a:rPr lang="en-US" sz="1800" dirty="0">
                <a:solidFill>
                  <a:schemeClr val="bg1"/>
                </a:solidFill>
              </a:rPr>
              <a:t>Comparison across different systems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600" b="1" dirty="0">
                <a:solidFill>
                  <a:schemeClr val="bg1"/>
                </a:solidFill>
              </a:rPr>
              <a:t>Conclusion and Q&amp;A</a:t>
            </a:r>
            <a:endParaRPr lang="en-US" sz="3600" dirty="0"/>
          </a:p>
        </p:txBody>
      </p:sp>
      <p:pic>
        <p:nvPicPr>
          <p:cNvPr id="4" name="Image 0" descr="Check mark"/>
          <p:cNvPicPr>
            <a:picLocks noChangeAspect="1"/>
          </p:cNvPicPr>
          <p:nvPr/>
        </p:nvPicPr>
        <p:blipFill>
          <a:blip r:embed="rId3"/>
          <a:stretch>
            <a:fillRect/>
          </a:stretch>
        </p:blipFill>
        <p:spPr>
          <a:xfrm>
            <a:off x="548640" y="1645920"/>
            <a:ext cx="411480" cy="411480"/>
          </a:xfrm>
          <a:prstGeom prst="rect">
            <a:avLst/>
          </a:prstGeom>
        </p:spPr>
      </p:pic>
      <p:sp>
        <p:nvSpPr>
          <p:cNvPr id="5" name="Text 1"/>
          <p:cNvSpPr txBox="1"/>
          <p:nvPr/>
        </p:nvSpPr>
        <p:spPr>
          <a:xfrm>
            <a:off x="1188720" y="1600200"/>
            <a:ext cx="5120640" cy="914400"/>
          </a:xfrm>
          <a:prstGeom prst="rect">
            <a:avLst/>
          </a:prstGeom>
          <a:noFill/>
          <a:ln/>
        </p:spPr>
        <p:txBody>
          <a:bodyPr wrap="square" lIns="0" tIns="0" rIns="0" bIns="0" rtlCol="0" anchor="t"/>
          <a:lstStyle/>
          <a:p>
            <a:pPr marL="0" indent="0" algn="l">
              <a:buNone/>
            </a:pPr>
            <a:r>
              <a:rPr lang="en-US" sz="1700" dirty="0">
                <a:solidFill>
                  <a:schemeClr val="bg1"/>
                </a:solidFill>
              </a:rPr>
              <a:t>Built a menu-driven C tool to time selected CPU, memory and file I/O workloads</a:t>
            </a:r>
            <a:endParaRPr lang="en-US" sz="1700" dirty="0"/>
          </a:p>
        </p:txBody>
      </p:sp>
      <p:pic>
        <p:nvPicPr>
          <p:cNvPr id="6" name="Image 1" descr="Check mark"/>
          <p:cNvPicPr>
            <a:picLocks noChangeAspect="1"/>
          </p:cNvPicPr>
          <p:nvPr/>
        </p:nvPicPr>
        <p:blipFill>
          <a:blip r:embed="rId3"/>
          <a:stretch>
            <a:fillRect/>
          </a:stretch>
        </p:blipFill>
        <p:spPr>
          <a:xfrm>
            <a:off x="548640" y="2743200"/>
            <a:ext cx="411480" cy="411480"/>
          </a:xfrm>
          <a:prstGeom prst="rect">
            <a:avLst/>
          </a:prstGeom>
        </p:spPr>
      </p:pic>
      <p:sp>
        <p:nvSpPr>
          <p:cNvPr id="7" name="Text 2"/>
          <p:cNvSpPr txBox="1"/>
          <p:nvPr/>
        </p:nvSpPr>
        <p:spPr>
          <a:xfrm>
            <a:off x="1188720" y="2697480"/>
            <a:ext cx="5120640" cy="914400"/>
          </a:xfrm>
          <a:prstGeom prst="rect">
            <a:avLst/>
          </a:prstGeom>
          <a:noFill/>
          <a:ln/>
        </p:spPr>
        <p:txBody>
          <a:bodyPr wrap="square" lIns="0" tIns="0" rIns="0" bIns="0" rtlCol="0" anchor="t"/>
          <a:lstStyle/>
          <a:p>
            <a:pPr marL="0" indent="0" algn="l">
              <a:buNone/>
            </a:pPr>
            <a:r>
              <a:rPr lang="en-US" sz="1700" dirty="0">
                <a:solidFill>
                  <a:schemeClr val="bg1"/>
                </a:solidFill>
              </a:rPr>
              <a:t>Combined mode: 3 rounds, averages and a CSV log</a:t>
            </a:r>
            <a:endParaRPr lang="en-US" sz="1700" dirty="0"/>
          </a:p>
        </p:txBody>
      </p:sp>
      <p:pic>
        <p:nvPicPr>
          <p:cNvPr id="8" name="Image 2" descr="Check mark"/>
          <p:cNvPicPr>
            <a:picLocks noChangeAspect="1"/>
          </p:cNvPicPr>
          <p:nvPr/>
        </p:nvPicPr>
        <p:blipFill>
          <a:blip r:embed="rId3"/>
          <a:stretch>
            <a:fillRect/>
          </a:stretch>
        </p:blipFill>
        <p:spPr>
          <a:xfrm>
            <a:off x="548640" y="3840480"/>
            <a:ext cx="411480" cy="411480"/>
          </a:xfrm>
          <a:prstGeom prst="rect">
            <a:avLst/>
          </a:prstGeom>
        </p:spPr>
      </p:pic>
      <p:sp>
        <p:nvSpPr>
          <p:cNvPr id="9" name="Text 3"/>
          <p:cNvSpPr txBox="1"/>
          <p:nvPr/>
        </p:nvSpPr>
        <p:spPr>
          <a:xfrm>
            <a:off x="1188720" y="3794760"/>
            <a:ext cx="5120640" cy="914400"/>
          </a:xfrm>
          <a:prstGeom prst="rect">
            <a:avLst/>
          </a:prstGeom>
          <a:noFill/>
          <a:ln/>
        </p:spPr>
        <p:txBody>
          <a:bodyPr wrap="square" lIns="0" tIns="0" rIns="0" bIns="0" rtlCol="0" anchor="t"/>
          <a:lstStyle/>
          <a:p>
            <a:pPr marL="0" indent="0" algn="l">
              <a:buNone/>
            </a:pPr>
            <a:r>
              <a:rPr lang="en-US" sz="1700" dirty="0">
                <a:solidFill>
                  <a:schemeClr val="bg1"/>
                </a:solidFill>
              </a:rPr>
              <a:t>Compiled with GCC 13.3.0 and tested on Ubuntu 24.04.4 LTS (WSL2); code on GitHub</a:t>
            </a:r>
            <a:endParaRPr lang="en-US" sz="1700" dirty="0"/>
          </a:p>
        </p:txBody>
      </p:sp>
      <p:pic>
        <p:nvPicPr>
          <p:cNvPr id="10" name="Image 3" descr="Check mark"/>
          <p:cNvPicPr>
            <a:picLocks noChangeAspect="1"/>
          </p:cNvPicPr>
          <p:nvPr/>
        </p:nvPicPr>
        <p:blipFill>
          <a:blip r:embed="rId3"/>
          <a:stretch>
            <a:fillRect/>
          </a:stretch>
        </p:blipFill>
        <p:spPr>
          <a:xfrm>
            <a:off x="548640" y="4937760"/>
            <a:ext cx="411480" cy="411480"/>
          </a:xfrm>
          <a:prstGeom prst="rect">
            <a:avLst/>
          </a:prstGeom>
        </p:spPr>
      </p:pic>
      <p:sp>
        <p:nvSpPr>
          <p:cNvPr id="11" name="Text 4"/>
          <p:cNvSpPr txBox="1"/>
          <p:nvPr/>
        </p:nvSpPr>
        <p:spPr>
          <a:xfrm>
            <a:off x="1188720" y="4892040"/>
            <a:ext cx="5120640" cy="914400"/>
          </a:xfrm>
          <a:prstGeom prst="rect">
            <a:avLst/>
          </a:prstGeom>
          <a:noFill/>
          <a:ln/>
        </p:spPr>
        <p:txBody>
          <a:bodyPr wrap="square" lIns="0" tIns="0" rIns="0" bIns="0" rtlCol="0" anchor="t"/>
          <a:lstStyle/>
          <a:p>
            <a:pPr marL="0" indent="0" algn="l">
              <a:buNone/>
            </a:pPr>
            <a:r>
              <a:rPr lang="en-US" sz="1700" dirty="0">
                <a:solidFill>
                  <a:schemeClr val="bg1"/>
                </a:solidFill>
              </a:rPr>
              <a:t>Results are specific to the test environment and workload</a:t>
            </a:r>
            <a:endParaRPr lang="en-US" sz="1700" dirty="0"/>
          </a:p>
        </p:txBody>
      </p:sp>
      <p:sp>
        <p:nvSpPr>
          <p:cNvPr id="12" name="Thank you card"/>
          <p:cNvSpPr/>
          <p:nvPr/>
        </p:nvSpPr>
        <p:spPr>
          <a:xfrm>
            <a:off x="6766560" y="1508760"/>
            <a:ext cx="4873752" cy="4617720"/>
          </a:xfrm>
          <a:prstGeom prst="roundRect">
            <a:avLst>
              <a:gd name="adj" fmla="val 2376"/>
            </a:avLst>
          </a:prstGeom>
          <a:solidFill>
            <a:schemeClr val="tx2"/>
          </a:solidFill>
          <a:ln w="12700">
            <a:solidFill>
              <a:schemeClr val="accent1"/>
            </a:solidFill>
            <a:prstDash val="solid"/>
          </a:ln>
        </p:spPr>
      </p:sp>
      <p:sp>
        <p:nvSpPr>
          <p:cNvPr id="13" name="Text 6"/>
          <p:cNvSpPr txBox="1"/>
          <p:nvPr/>
        </p:nvSpPr>
        <p:spPr>
          <a:xfrm>
            <a:off x="6766560" y="2286000"/>
            <a:ext cx="4873752" cy="1005840"/>
          </a:xfrm>
          <a:prstGeom prst="rect">
            <a:avLst/>
          </a:prstGeom>
          <a:noFill/>
          <a:ln/>
        </p:spPr>
        <p:txBody>
          <a:bodyPr wrap="square" lIns="0" tIns="0" rIns="0" bIns="0" rtlCol="0" anchor="ctr"/>
          <a:lstStyle/>
          <a:p>
            <a:pPr marL="0" indent="0" algn="ctr">
              <a:buNone/>
            </a:pPr>
            <a:r>
              <a:rPr lang="en-US" sz="5400" b="1" dirty="0">
                <a:solidFill>
                  <a:schemeClr val="bg1"/>
                </a:solidFill>
              </a:rPr>
              <a:t>Thank You</a:t>
            </a:r>
            <a:endParaRPr lang="en-US" sz="5400" dirty="0"/>
          </a:p>
        </p:txBody>
      </p:sp>
      <p:sp>
        <p:nvSpPr>
          <p:cNvPr id="14" name="Text 7"/>
          <p:cNvSpPr txBox="1"/>
          <p:nvPr/>
        </p:nvSpPr>
        <p:spPr>
          <a:xfrm>
            <a:off x="6766560" y="3429000"/>
            <a:ext cx="4873752" cy="548640"/>
          </a:xfrm>
          <a:prstGeom prst="rect">
            <a:avLst/>
          </a:prstGeom>
          <a:noFill/>
          <a:ln/>
        </p:spPr>
        <p:txBody>
          <a:bodyPr wrap="square" lIns="0" tIns="0" rIns="0" bIns="0" rtlCol="0" anchor="ctr"/>
          <a:lstStyle/>
          <a:p>
            <a:pPr marL="0" indent="0" algn="ctr">
              <a:buNone/>
            </a:pPr>
            <a:r>
              <a:rPr lang="en-US" sz="2600" dirty="0">
                <a:solidFill>
                  <a:schemeClr val="accent2"/>
                </a:solidFill>
              </a:rPr>
              <a:t>Questions?</a:t>
            </a:r>
            <a:endParaRPr lang="en-US" sz="2600" dirty="0"/>
          </a:p>
        </p:txBody>
      </p:sp>
      <p:sp>
        <p:nvSpPr>
          <p:cNvPr id="15" name="Text 8"/>
          <p:cNvSpPr txBox="1"/>
          <p:nvPr/>
        </p:nvSpPr>
        <p:spPr>
          <a:xfrm>
            <a:off x="6949440" y="4937760"/>
            <a:ext cx="4507992" cy="365760"/>
          </a:xfrm>
          <a:prstGeom prst="rect">
            <a:avLst/>
          </a:prstGeom>
          <a:noFill/>
          <a:ln/>
        </p:spPr>
        <p:txBody>
          <a:bodyPr wrap="square" lIns="0" tIns="0" rIns="0" bIns="0" rtlCol="0" anchor="ctr"/>
          <a:lstStyle/>
          <a:p>
            <a:pPr marL="0" indent="0" algn="ctr">
              <a:buNone/>
            </a:pPr>
            <a:r>
              <a:rPr lang="en-US" sz="1200" u="sng" dirty="0">
                <a:solidFill>
                  <a:schemeClr val="accent2"/>
                </a:solidFill>
                <a:hlinkClick r:id="rId4">
                  <a:extLst>
                    <a:ext uri="{A12FA001-AC4F-418D-AE19-62706E023703}">
                      <ahyp:hlinkClr xmlns:ahyp="http://schemas.microsoft.com/office/drawing/2018/hyperlinkcolor" val="tx"/>
                    </a:ext>
                  </a:extLst>
                </a:hlinkClick>
              </a:rPr>
              <a:t>github.com/Srivalli-29/linux-performance-benchmark-tool</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C7"/>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Linux Terminal Navy">
  <a:themeElements>
    <a:clrScheme name="Linux Terminal Navy">
      <a:dk1>
        <a:srgbClr val="05080F"/>
      </a:dk1>
      <a:lt1>
        <a:srgbClr val="FFFFFF"/>
      </a:lt1>
      <a:dk2>
        <a:srgbClr val="122041"/>
      </a:dk2>
      <a:lt2>
        <a:srgbClr val="DCE6F5"/>
      </a:lt2>
      <a:accent1>
        <a:srgbClr val="2F81F7"/>
      </a:accent1>
      <a:accent2>
        <a:srgbClr val="79B8FF"/>
      </a:accent2>
      <a:accent3>
        <a:srgbClr val="3FB950"/>
      </a:accent3>
      <a:accent4>
        <a:srgbClr val="8FA3C7"/>
      </a:accent4>
      <a:accent5>
        <a:srgbClr val="233556"/>
      </a:accent5>
      <a:accent6>
        <a:srgbClr val="F2CC60"/>
      </a:accent6>
      <a:hlink>
        <a:srgbClr val="79B8FF"/>
      </a:hlink>
      <a:folHlink>
        <a:srgbClr val="8FA3C7"/>
      </a:folHlink>
    </a:clrScheme>
    <a:fontScheme name="Linux Terminal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2307</Words>
  <Application>Microsoft Office PowerPoint</Application>
  <PresentationFormat>Widescreen</PresentationFormat>
  <Paragraphs>270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Linux Terminal Navy</vt:lpstr>
      <vt:lpstr>Linux Performance Benchmarking Tool</vt:lpstr>
      <vt:lpstr>Introduction</vt:lpstr>
      <vt:lpstr>Problem Statement</vt:lpstr>
      <vt:lpstr>Objectives</vt:lpstr>
      <vt:lpstr>Technology Stack and Requirements</vt:lpstr>
      <vt:lpstr>System Architecture and Workflow</vt:lpstr>
      <vt:lpstr>CPU Benchmark Implementation</vt:lpstr>
      <vt:lpstr>Memory Benchmark Implementation</vt:lpstr>
      <vt:lpstr>File I/O Benchmark Implementation</vt:lpstr>
      <vt:lpstr>Implementation and Execution</vt:lpstr>
      <vt:lpstr>Results and Analysis</vt:lpstr>
      <vt:lpstr>Testing and GitHub</vt:lpstr>
      <vt:lpstr>Limitations and Future Enhancements</vt:lpstr>
      <vt:lpstr>Conclusion and Q&amp;A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Performance Benchmarking Tool</dc:title>
  <dc:subject>Operating Systems / Linux Systems Programming project</dc:subject>
  <dc:creator>Srivalli</dc:creator>
  <cp:lastModifiedBy>Sri Valli</cp:lastModifiedBy>
  <cp:revision>1</cp:revision>
  <dcterms:created xsi:type="dcterms:W3CDTF">2026-10-16T09:59:27Z</dcterms:created>
  <dcterms:modified xsi:type="dcterms:W3CDTF">2026-10-17T05:08:39Z</dcterms:modified>
</cp:coreProperties>
</file>